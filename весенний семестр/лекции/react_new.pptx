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6"/>
  </p:notesMasterIdLst>
  <p:sldIdLst>
    <p:sldId id="650" r:id="rId2"/>
    <p:sldId id="256" r:id="rId3"/>
    <p:sldId id="257" r:id="rId4"/>
    <p:sldId id="258" r:id="rId5"/>
    <p:sldId id="260" r:id="rId6"/>
    <p:sldId id="259" r:id="rId7"/>
    <p:sldId id="262" r:id="rId8"/>
    <p:sldId id="263" r:id="rId9"/>
    <p:sldId id="264" r:id="rId10"/>
    <p:sldId id="265" r:id="rId11"/>
    <p:sldId id="261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277" r:id="rId35"/>
    <p:sldId id="278" r:id="rId36"/>
    <p:sldId id="279" r:id="rId37"/>
    <p:sldId id="280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24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  <p:sldId id="299" r:id="rId67"/>
    <p:sldId id="300" r:id="rId68"/>
    <p:sldId id="301" r:id="rId69"/>
    <p:sldId id="302" r:id="rId70"/>
    <p:sldId id="303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61" r:id="rId94"/>
    <p:sldId id="362" r:id="rId95"/>
    <p:sldId id="363" r:id="rId96"/>
    <p:sldId id="364" r:id="rId97"/>
    <p:sldId id="365" r:id="rId98"/>
    <p:sldId id="366" r:id="rId99"/>
    <p:sldId id="367" r:id="rId100"/>
    <p:sldId id="368" r:id="rId101"/>
    <p:sldId id="369" r:id="rId102"/>
    <p:sldId id="370" r:id="rId103"/>
    <p:sldId id="371" r:id="rId104"/>
    <p:sldId id="372" r:id="rId105"/>
    <p:sldId id="373" r:id="rId106"/>
    <p:sldId id="374" r:id="rId107"/>
    <p:sldId id="375" r:id="rId108"/>
    <p:sldId id="376" r:id="rId109"/>
    <p:sldId id="377" r:id="rId110"/>
    <p:sldId id="378" r:id="rId111"/>
    <p:sldId id="379" r:id="rId112"/>
    <p:sldId id="380" r:id="rId113"/>
    <p:sldId id="381" r:id="rId114"/>
    <p:sldId id="382" r:id="rId115"/>
    <p:sldId id="383" r:id="rId116"/>
    <p:sldId id="347" r:id="rId117"/>
    <p:sldId id="348" r:id="rId118"/>
    <p:sldId id="384" r:id="rId119"/>
    <p:sldId id="394" r:id="rId120"/>
    <p:sldId id="395" r:id="rId121"/>
    <p:sldId id="396" r:id="rId122"/>
    <p:sldId id="398" r:id="rId123"/>
    <p:sldId id="399" r:id="rId124"/>
    <p:sldId id="400" r:id="rId125"/>
    <p:sldId id="401" r:id="rId126"/>
    <p:sldId id="402" r:id="rId127"/>
    <p:sldId id="403" r:id="rId128"/>
    <p:sldId id="404" r:id="rId129"/>
    <p:sldId id="405" r:id="rId130"/>
    <p:sldId id="412" r:id="rId131"/>
    <p:sldId id="413" r:id="rId132"/>
    <p:sldId id="414" r:id="rId133"/>
    <p:sldId id="415" r:id="rId134"/>
    <p:sldId id="416" r:id="rId135"/>
    <p:sldId id="417" r:id="rId136"/>
    <p:sldId id="418" r:id="rId137"/>
    <p:sldId id="419" r:id="rId138"/>
    <p:sldId id="420" r:id="rId139"/>
    <p:sldId id="421" r:id="rId140"/>
    <p:sldId id="406" r:id="rId141"/>
    <p:sldId id="407" r:id="rId142"/>
    <p:sldId id="408" r:id="rId143"/>
    <p:sldId id="409" r:id="rId144"/>
    <p:sldId id="410" r:id="rId145"/>
    <p:sldId id="411" r:id="rId146"/>
    <p:sldId id="422" r:id="rId147"/>
    <p:sldId id="423" r:id="rId148"/>
    <p:sldId id="424" r:id="rId149"/>
    <p:sldId id="427" r:id="rId150"/>
    <p:sldId id="428" r:id="rId151"/>
    <p:sldId id="429" r:id="rId152"/>
    <p:sldId id="430" r:id="rId153"/>
    <p:sldId id="431" r:id="rId154"/>
    <p:sldId id="432" r:id="rId155"/>
    <p:sldId id="433" r:id="rId156"/>
    <p:sldId id="434" r:id="rId157"/>
    <p:sldId id="397" r:id="rId158"/>
    <p:sldId id="349" r:id="rId159"/>
    <p:sldId id="350" r:id="rId160"/>
    <p:sldId id="351" r:id="rId161"/>
    <p:sldId id="352" r:id="rId162"/>
    <p:sldId id="353" r:id="rId163"/>
    <p:sldId id="354" r:id="rId164"/>
    <p:sldId id="355" r:id="rId165"/>
    <p:sldId id="356" r:id="rId166"/>
    <p:sldId id="357" r:id="rId167"/>
    <p:sldId id="358" r:id="rId168"/>
    <p:sldId id="359" r:id="rId169"/>
    <p:sldId id="360" r:id="rId170"/>
    <p:sldId id="435" r:id="rId171"/>
    <p:sldId id="436" r:id="rId172"/>
    <p:sldId id="437" r:id="rId173"/>
    <p:sldId id="438" r:id="rId174"/>
    <p:sldId id="439" r:id="rId175"/>
    <p:sldId id="440" r:id="rId176"/>
    <p:sldId id="441" r:id="rId177"/>
    <p:sldId id="442" r:id="rId178"/>
    <p:sldId id="443" r:id="rId179"/>
    <p:sldId id="444" r:id="rId180"/>
    <p:sldId id="445" r:id="rId181"/>
    <p:sldId id="446" r:id="rId182"/>
    <p:sldId id="455" r:id="rId183"/>
    <p:sldId id="456" r:id="rId184"/>
    <p:sldId id="457" r:id="rId185"/>
    <p:sldId id="458" r:id="rId186"/>
    <p:sldId id="459" r:id="rId187"/>
    <p:sldId id="460" r:id="rId188"/>
    <p:sldId id="461" r:id="rId189"/>
    <p:sldId id="462" r:id="rId190"/>
    <p:sldId id="463" r:id="rId191"/>
    <p:sldId id="464" r:id="rId192"/>
    <p:sldId id="465" r:id="rId193"/>
    <p:sldId id="466" r:id="rId194"/>
    <p:sldId id="467" r:id="rId195"/>
    <p:sldId id="651" r:id="rId196"/>
    <p:sldId id="652" r:id="rId197"/>
    <p:sldId id="653" r:id="rId198"/>
    <p:sldId id="654" r:id="rId199"/>
    <p:sldId id="655" r:id="rId200"/>
    <p:sldId id="656" r:id="rId201"/>
    <p:sldId id="657" r:id="rId202"/>
    <p:sldId id="658" r:id="rId203"/>
    <p:sldId id="659" r:id="rId204"/>
    <p:sldId id="552" r:id="rId205"/>
    <p:sldId id="553" r:id="rId206"/>
    <p:sldId id="660" r:id="rId207"/>
    <p:sldId id="661" r:id="rId208"/>
    <p:sldId id="662" r:id="rId209"/>
    <p:sldId id="663" r:id="rId210"/>
    <p:sldId id="664" r:id="rId211"/>
    <p:sldId id="665" r:id="rId212"/>
    <p:sldId id="666" r:id="rId213"/>
    <p:sldId id="667" r:id="rId214"/>
    <p:sldId id="668" r:id="rId215"/>
    <p:sldId id="669" r:id="rId216"/>
    <p:sldId id="670" r:id="rId217"/>
    <p:sldId id="671" r:id="rId218"/>
    <p:sldId id="672" r:id="rId219"/>
    <p:sldId id="673" r:id="rId220"/>
    <p:sldId id="674" r:id="rId221"/>
    <p:sldId id="675" r:id="rId222"/>
    <p:sldId id="676" r:id="rId223"/>
    <p:sldId id="677" r:id="rId224"/>
    <p:sldId id="684" r:id="rId225"/>
    <p:sldId id="685" r:id="rId226"/>
    <p:sldId id="686" r:id="rId227"/>
    <p:sldId id="687" r:id="rId228"/>
    <p:sldId id="688" r:id="rId229"/>
    <p:sldId id="689" r:id="rId230"/>
    <p:sldId id="690" r:id="rId231"/>
    <p:sldId id="691" r:id="rId232"/>
    <p:sldId id="678" r:id="rId233"/>
    <p:sldId id="679" r:id="rId234"/>
    <p:sldId id="680" r:id="rId235"/>
    <p:sldId id="681" r:id="rId236"/>
    <p:sldId id="682" r:id="rId237"/>
    <p:sldId id="683" r:id="rId238"/>
    <p:sldId id="692" r:id="rId239"/>
    <p:sldId id="693" r:id="rId240"/>
    <p:sldId id="695" r:id="rId241"/>
    <p:sldId id="696" r:id="rId242"/>
    <p:sldId id="697" r:id="rId243"/>
    <p:sldId id="698" r:id="rId244"/>
    <p:sldId id="707" r:id="rId245"/>
    <p:sldId id="708" r:id="rId246"/>
    <p:sldId id="709" r:id="rId247"/>
    <p:sldId id="710" r:id="rId248"/>
    <p:sldId id="711" r:id="rId249"/>
    <p:sldId id="712" r:id="rId250"/>
    <p:sldId id="713" r:id="rId251"/>
    <p:sldId id="714" r:id="rId252"/>
    <p:sldId id="715" r:id="rId253"/>
    <p:sldId id="716" r:id="rId254"/>
    <p:sldId id="717" r:id="rId255"/>
    <p:sldId id="718" r:id="rId256"/>
    <p:sldId id="719" r:id="rId257"/>
    <p:sldId id="720" r:id="rId258"/>
    <p:sldId id="721" r:id="rId259"/>
    <p:sldId id="722" r:id="rId260"/>
    <p:sldId id="723" r:id="rId261"/>
    <p:sldId id="724" r:id="rId262"/>
    <p:sldId id="725" r:id="rId263"/>
    <p:sldId id="726" r:id="rId264"/>
    <p:sldId id="727" r:id="rId265"/>
    <p:sldId id="728" r:id="rId266"/>
    <p:sldId id="699" r:id="rId267"/>
    <p:sldId id="700" r:id="rId268"/>
    <p:sldId id="701" r:id="rId269"/>
    <p:sldId id="702" r:id="rId270"/>
    <p:sldId id="703" r:id="rId271"/>
    <p:sldId id="704" r:id="rId272"/>
    <p:sldId id="705" r:id="rId273"/>
    <p:sldId id="706" r:id="rId274"/>
    <p:sldId id="694" r:id="rId27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1760" autoAdjust="0"/>
  </p:normalViewPr>
  <p:slideViewPr>
    <p:cSldViewPr snapToGrid="0">
      <p:cViewPr varScale="1">
        <p:scale>
          <a:sx n="79" d="100"/>
          <a:sy n="79" d="100"/>
        </p:scale>
        <p:origin x="97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58" Type="http://schemas.openxmlformats.org/officeDocument/2006/relationships/slide" Target="slides/slide257.xml"/><Relationship Id="rId279" Type="http://schemas.openxmlformats.org/officeDocument/2006/relationships/theme" Target="theme/theme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269" Type="http://schemas.openxmlformats.org/officeDocument/2006/relationships/slide" Target="slides/slide268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tableStyles" Target="tableStyles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notesMaster" Target="notesMasters/notesMaster1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presProps" Target="presProps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viewProps" Target="viewProps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C9A7A4-CD96-441F-B24D-FB31FDE0541D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5C788-E129-477C-837B-FFCDF7619D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635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https://blog.skillfactory.ru/glossary/redux/</a:t>
            </a:r>
            <a:endParaRPr lang="ru-RU" dirty="0"/>
          </a:p>
          <a:p>
            <a:r>
              <a:rPr lang="en-US" dirty="0"/>
              <a:t>https://reactdev.ru/libs/redux/basics/Actions/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95C788-E129-477C-837B-FFCDF7619DE8}" type="slidenum">
              <a:rPr lang="ru-RU" smtClean="0"/>
              <a:t>204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792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EAA799-6FB1-4757-B799-51096BF46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A9227A-BD85-44B2-81C7-F10A391D4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748086-6C29-44A1-83AF-4A9791A34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B5579-8894-48B8-845D-D30D31F68222}" type="datetime1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96370B-4492-41CE-AE2B-EEF793496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3E8D5D-814C-4D8B-BB8F-6D66FE3A7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965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FC0F96-1605-44DF-9810-0C40D3C1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46194F-F85E-4895-B991-5893FC28F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558DE9-7A62-459C-8BEE-FD76F1186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C90-C21C-4298-9391-BE7E279DDD25}" type="datetime1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D8F655-26BF-4865-819C-E37491B87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9941B0-8622-48CD-BC31-9EECAD8A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677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662FA6-F2E8-463F-88DF-4A203F3B1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2815C0-888D-46A7-BF83-132A17532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51F814-F308-4403-BBE1-83057CA59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C9A2-CFA0-44CE-9182-3BAC456CED00}" type="datetime1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CB54DE-82CB-4704-8A5B-DF002A7FD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02502F-75CD-4D7F-B43F-EE4C0EA6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36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AFFC75-1F4B-434B-8BFF-673FDAED4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1CC035-39B9-46CD-AB7E-51D40AE66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6F99EE-F9DF-446F-8BE3-D2D96595E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C82F2F-41FE-4D25-B3E6-51343D96F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5DA4-59F5-43DE-ACC4-47713C8B6ED8}" type="datetime1">
              <a:rPr lang="ru-RU" smtClean="0"/>
              <a:t>08.05.2025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543C06-731F-4A85-A5AD-62A67309C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C4855F-23EE-48B2-A989-D6C85EA1C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75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BF2A7-71E3-4A00-BBF4-266B43B9D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80C050-1C31-4F56-9C0E-E08E65457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FE6022-834D-48E8-BEC7-5A449F6D0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9BF4E0-C6F3-409F-9BA4-725EDE80B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B8F0A16-BDF7-4743-88E4-1DDFBFCB56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D8B2F54-9446-4063-B7E6-7FDBEE9D2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1513-5282-4381-B043-59A75D517062}" type="datetime1">
              <a:rPr lang="ru-RU" smtClean="0"/>
              <a:t>08.05.2025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581A452-99AA-41FD-9FE6-792838752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41110D-6B67-4935-8DB8-EDFBE5E1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02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5D9BC-652C-4A4C-9F07-455B5B0D8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3FE4FCD-01F1-4974-B8EC-A3E4042E6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53B99-F1D3-4DE6-8856-459F890609CA}" type="datetime1">
              <a:rPr lang="ru-RU" smtClean="0"/>
              <a:t>08.05.2025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4B8FC48-1C1D-4B8C-B1B7-70B6D365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55FBBA-94E4-4300-9C63-34234C42D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677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257C740-CC0F-4350-9A77-A31747BC8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EA76-4754-4A4F-AD84-648BD5DA2291}" type="datetime1">
              <a:rPr lang="ru-RU" smtClean="0"/>
              <a:t>08.05.2025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DE1C795-2A9E-46E9-80AC-9CA22ADF7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C52454-B96C-46A8-B695-05B9F257B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433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35B86F-F589-4879-9AC5-0D3CEAC10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E4D7D-E303-43B8-9A0E-458C411D1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615D0B-9299-4BC5-8DFE-9BF6C2939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71CBE6-25B6-4654-83F7-2CBA237F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F1F9F-705D-4568-8AD5-86D9888F49F8}" type="datetime1">
              <a:rPr lang="ru-RU" smtClean="0"/>
              <a:t>08.05.2025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D7B381-7BA9-404D-9260-B2CB06CC9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29FA82-D71C-403B-993F-F0657B81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1326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94DF3-08A9-4DB6-8C26-9E77E57E9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F2EE757-768D-41B9-AA58-0C9C5F782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E622960-839A-4E00-AB1E-1F66C8C27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A04320-5BFE-4BFA-B0AA-1312EAA9C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C636-6C02-4E2F-86C1-219D9F12B0DE}" type="datetime1">
              <a:rPr lang="ru-RU" smtClean="0"/>
              <a:t>08.05.2025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B67C91-C27E-4FDE-B4ED-03A1000EB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F7EDFC-75CA-4840-8F12-CE626BD43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013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EAE9F-A5AC-4476-B1FC-82DEB6C5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CD79AD-DDF1-4353-A3F8-DC44EA1AA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D97F4E-BF7C-4CD2-B517-1F9CAB0C6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C04D-0368-4E7A-8BBD-050DD4A6DF33}" type="datetime1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A5728D-E8AE-4597-A09C-2788A3FAA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3B54B8-14C3-4C34-98F6-C4664E90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718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BB8CAA4-14A0-4D84-82FF-867527E74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5C6C63-9082-4EFE-99A2-521A4E28F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E1C9BE-A727-4719-B0EC-7324B3E61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5652-AF6A-42AF-BA0B-D1CD45E8C8B2}" type="datetime1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F33213-2C1C-4A84-B5C1-B732E0F17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A37453-911F-45A4-A561-EBFFB4FC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12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B5AE0-3E6A-44B2-88F2-ACDE46C78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0999F7-4DFC-4A90-8421-64BD20D57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787F0B-EECB-4E0F-9D89-14177B178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A85E8-0700-40C6-9B2C-D8E99DEF5FF8}" type="datetime1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F66AB5-9A38-4428-9B1C-8110B10E9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6021ED-6680-405B-9C04-53A3C29F8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CB33F-535A-4D66-94AD-27902166E5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168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tylermcginnis.com/free-react-bootcamp/" TargetMode="External"/><Relationship Id="rId3" Type="http://schemas.openxmlformats.org/officeDocument/2006/relationships/hyperlink" Target="https://www.codecademy.com/learn/react-101" TargetMode="External"/><Relationship Id="rId7" Type="http://schemas.openxmlformats.org/officeDocument/2006/relationships/hyperlink" Target="https://egghead.io/courses/the-beginner-s-guide-to-react" TargetMode="External"/><Relationship Id="rId2" Type="http://schemas.openxmlformats.org/officeDocument/2006/relationships/hyperlink" Target="https://glitch.com/glimmer/post/react-starter-ki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ontarm.com/courses/react-fundamentals/" TargetMode="External"/><Relationship Id="rId5" Type="http://schemas.openxmlformats.org/officeDocument/2006/relationships/hyperlink" Target="https://www.youtube.com/watch?v=Ke90Tje7VS0" TargetMode="External"/><Relationship Id="rId10" Type="http://schemas.openxmlformats.org/officeDocument/2006/relationships/hyperlink" Target="https://fullstackopen.com/en/" TargetMode="External"/><Relationship Id="rId4" Type="http://schemas.openxmlformats.org/officeDocument/2006/relationships/hyperlink" Target="https://egghead.io/courses/start-learning-react" TargetMode="External"/><Relationship Id="rId9" Type="http://schemas.openxmlformats.org/officeDocument/2006/relationships/hyperlink" Target="https://scrimba.com/g/glearnreact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u.reactjs.org/docs/glossary.html#single-page-application" TargetMode="External"/><Relationship Id="rId2" Type="http://schemas.openxmlformats.org/officeDocument/2006/relationships/hyperlink" Target="https://github.com/facebookincubator/create-react-app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odejs.org/ru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ru.wikipedia.org/wiki/%D0%9D%D0%B5%D0%B8%D0%B7%D0%BC%D0%B5%D0%BD%D1%8F%D0%B5%D0%BC%D1%8B%D0%B9_%D0%BE%D0%B1%D1%8A%D0%B5%D0%BA%D1%82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gif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3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1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1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1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1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1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1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1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1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1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1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1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1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1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5.png"/><Relationship Id="rId1" Type="http://schemas.openxmlformats.org/officeDocument/2006/relationships/slideLayout" Target="../slideLayouts/slideLayout1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1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1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1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1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1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1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1F7546-2119-4940-A4E1-DEDD36E1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4A4E73-9F0B-4F15-9D1A-C77972D9079D}"/>
              </a:ext>
            </a:extLst>
          </p:cNvPr>
          <p:cNvSpPr txBox="1"/>
          <p:nvPr/>
        </p:nvSpPr>
        <p:spPr>
          <a:xfrm>
            <a:off x="770916" y="792963"/>
            <a:ext cx="37329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https://typescript-handbook.ru/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B1FFBCA-BE6A-49EC-8776-9BFEDF4B4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87" y="1193073"/>
            <a:ext cx="4834647" cy="48346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FF361D-AD29-4FA1-A2BA-BD2F5C9EF16E}"/>
              </a:ext>
            </a:extLst>
          </p:cNvPr>
          <p:cNvSpPr txBox="1"/>
          <p:nvPr/>
        </p:nvSpPr>
        <p:spPr>
          <a:xfrm>
            <a:off x="5722295" y="823741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https://ru.legacy.reactjs.org/docs/getting-started.html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F47BFB6-5184-4A38-986C-366B597B9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034" y="1199613"/>
            <a:ext cx="4834646" cy="483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28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7F2D92-82E4-433F-83DA-387E5D7EF5C0}"/>
              </a:ext>
            </a:extLst>
          </p:cNvPr>
          <p:cNvSpPr txBox="1"/>
          <p:nvPr/>
        </p:nvSpPr>
        <p:spPr>
          <a:xfrm>
            <a:off x="508438" y="479428"/>
            <a:ext cx="1117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React</a:t>
            </a:r>
            <a:r>
              <a:rPr lang="ru-RU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 — это </a:t>
            </a:r>
            <a:r>
              <a:rPr lang="ru-RU" sz="18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JavaScript</a:t>
            </a:r>
            <a:r>
              <a:rPr lang="ru-RU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-библиотека для разработки пользовательского интерфейса. 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2EA19-CFCF-438C-A13E-4FEE43135B7A}"/>
              </a:ext>
            </a:extLst>
          </p:cNvPr>
          <p:cNvSpPr txBox="1"/>
          <p:nvPr/>
        </p:nvSpPr>
        <p:spPr>
          <a:xfrm>
            <a:off x="508438" y="2000377"/>
            <a:ext cx="1141029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u="sng" dirty="0">
                <a:solidFill>
                  <a:srgbClr val="1A1A1A"/>
                </a:solidFill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Курсы</a:t>
            </a:r>
          </a:p>
          <a:p>
            <a:pPr algn="l"/>
            <a:endParaRPr lang="en-US" u="sng" dirty="0">
              <a:solidFill>
                <a:srgbClr val="1A1A1A"/>
              </a:solidFill>
              <a:latin typeface="-apple-system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en-US" b="0" i="0" u="none" strike="noStrike" dirty="0">
                <a:solidFill>
                  <a:srgbClr val="1A1A1A"/>
                </a:solidFill>
                <a:effectLst/>
                <a:latin typeface="-apple-system"/>
                <a:hlinkClick r:id="rId2"/>
              </a:rPr>
              <a:t>Glitch: React Starter Kit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 </a:t>
            </a:r>
            <a:endParaRPr lang="ru-RU" b="0" i="0" dirty="0">
              <a:solidFill>
                <a:srgbClr val="1A1A1A"/>
              </a:solidFill>
              <a:effectLst/>
              <a:latin typeface="-apple-system"/>
            </a:endParaRPr>
          </a:p>
          <a:p>
            <a:pPr algn="l"/>
            <a:r>
              <a:rPr lang="en-US" b="0" i="0" u="none" strike="noStrike" dirty="0" err="1">
                <a:solidFill>
                  <a:srgbClr val="1A1A1A"/>
                </a:solidFill>
                <a:effectLst/>
                <a:latin typeface="-apple-system"/>
                <a:hlinkClick r:id="rId3"/>
              </a:rPr>
              <a:t>Codecademy</a:t>
            </a:r>
            <a:r>
              <a:rPr lang="en-US" b="0" i="0" u="none" strike="noStrike" dirty="0">
                <a:solidFill>
                  <a:srgbClr val="1A1A1A"/>
                </a:solidFill>
                <a:effectLst/>
                <a:latin typeface="-apple-system"/>
                <a:hlinkClick r:id="rId3"/>
              </a:rPr>
              <a:t>: React 101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 </a:t>
            </a:r>
            <a:endParaRPr lang="ru-RU" b="0" i="0" dirty="0">
              <a:solidFill>
                <a:srgbClr val="1A1A1A"/>
              </a:solidFill>
              <a:effectLst/>
              <a:latin typeface="-apple-system"/>
            </a:endParaRPr>
          </a:p>
          <a:p>
            <a:pPr algn="l"/>
            <a:r>
              <a:rPr lang="en-US" b="0" i="0" u="none" strike="noStrike" dirty="0">
                <a:solidFill>
                  <a:srgbClr val="1A1A1A"/>
                </a:solidFill>
                <a:effectLst/>
                <a:latin typeface="-apple-system"/>
                <a:hlinkClick r:id="rId4"/>
              </a:rPr>
              <a:t>Egghead.io: Start Learning React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 </a:t>
            </a:r>
          </a:p>
          <a:p>
            <a:pPr algn="l"/>
            <a:r>
              <a:rPr lang="en-US" b="0" i="0" u="none" strike="noStrike" dirty="0">
                <a:solidFill>
                  <a:srgbClr val="1A1A1A"/>
                </a:solidFill>
                <a:effectLst/>
                <a:latin typeface="-apple-system"/>
                <a:hlinkClick r:id="rId5"/>
              </a:rPr>
              <a:t>React Crash Course 2018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 </a:t>
            </a:r>
          </a:p>
          <a:p>
            <a:pPr algn="l"/>
            <a:r>
              <a:rPr lang="en-US" b="0" i="0" u="none" strike="noStrike" dirty="0">
                <a:solidFill>
                  <a:srgbClr val="1A1A1A"/>
                </a:solidFill>
                <a:effectLst/>
                <a:latin typeface="-apple-system"/>
                <a:hlinkClick r:id="rId6"/>
              </a:rPr>
              <a:t>Frontend Armory: React Fundamentals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 </a:t>
            </a:r>
          </a:p>
          <a:p>
            <a:pPr algn="l"/>
            <a:r>
              <a:rPr lang="en-US" b="0" i="0" u="none" strike="noStrike" dirty="0">
                <a:solidFill>
                  <a:srgbClr val="1A1A1A"/>
                </a:solidFill>
                <a:effectLst/>
                <a:latin typeface="-apple-system"/>
                <a:hlinkClick r:id="rId7"/>
              </a:rPr>
              <a:t>Egghead.io: The Beginner’s Guide to ReactJS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 </a:t>
            </a:r>
          </a:p>
          <a:p>
            <a:pPr algn="l"/>
            <a:r>
              <a:rPr lang="en-US" b="0" i="0" u="none" strike="noStrike" dirty="0">
                <a:solidFill>
                  <a:srgbClr val="1A1A1A"/>
                </a:solidFill>
                <a:effectLst/>
                <a:latin typeface="-apple-system"/>
                <a:hlinkClick r:id="rId8"/>
              </a:rPr>
              <a:t>Free React Bootcamp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 </a:t>
            </a:r>
          </a:p>
          <a:p>
            <a:pPr algn="l"/>
            <a:r>
              <a:rPr lang="en-US" b="0" i="0" u="none" strike="noStrike" dirty="0" err="1">
                <a:solidFill>
                  <a:srgbClr val="1A1A1A"/>
                </a:solidFill>
                <a:effectLst/>
                <a:latin typeface="-apple-system"/>
                <a:hlinkClick r:id="rId9"/>
              </a:rPr>
              <a:t>Scrimba</a:t>
            </a:r>
            <a:r>
              <a:rPr lang="en-US" b="0" i="0" u="none" strike="noStrike" dirty="0">
                <a:solidFill>
                  <a:srgbClr val="1A1A1A"/>
                </a:solidFill>
                <a:effectLst/>
                <a:latin typeface="-apple-system"/>
                <a:hlinkClick r:id="rId9"/>
              </a:rPr>
              <a:t>: Learn React for free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 </a:t>
            </a:r>
          </a:p>
          <a:p>
            <a:pPr algn="l"/>
            <a:r>
              <a:rPr lang="en-US" b="0" i="0" u="none" strike="noStrike" dirty="0">
                <a:solidFill>
                  <a:srgbClr val="1A1A1A"/>
                </a:solidFill>
                <a:effectLst/>
                <a:latin typeface="-apple-system"/>
                <a:hlinkClick r:id="rId10"/>
              </a:rPr>
              <a:t>University of Helsinki: Full Stack Open MOOC</a:t>
            </a:r>
            <a:r>
              <a:rPr lang="en-US" b="0" i="0" dirty="0">
                <a:solidFill>
                  <a:srgbClr val="1A1A1A"/>
                </a:solidFill>
                <a:effectLst/>
                <a:latin typeface="-apple-system"/>
              </a:rPr>
              <a:t>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E736F-7EAF-426A-A08B-118019BA9818}"/>
              </a:ext>
            </a:extLst>
          </p:cNvPr>
          <p:cNvSpPr txBox="1"/>
          <p:nvPr/>
        </p:nvSpPr>
        <p:spPr>
          <a:xfrm>
            <a:off x="508438" y="1244568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reactjs.org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368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9691A8-4314-410A-8B87-197FB255E20C}"/>
              </a:ext>
            </a:extLst>
          </p:cNvPr>
          <p:cNvSpPr txBox="1"/>
          <p:nvPr/>
        </p:nvSpPr>
        <p:spPr>
          <a:xfrm>
            <a:off x="934107" y="606973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  <a:latin typeface="Source Sans Pro" panose="020B0503030403020204" pitchFamily="34" charset="0"/>
              </a:rPr>
              <a:t>Установка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EEF78-3686-484F-9D86-CAB8ED652D29}"/>
              </a:ext>
            </a:extLst>
          </p:cNvPr>
          <p:cNvSpPr txBox="1"/>
          <p:nvPr/>
        </p:nvSpPr>
        <p:spPr>
          <a:xfrm>
            <a:off x="934107" y="1194817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Source Sans Pro" panose="020B0503030403020204" pitchFamily="34" charset="0"/>
              </a:rPr>
              <a:t>через 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Yarn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DA88D-F39B-4B1B-90EC-AD1340CAF4C1}"/>
              </a:ext>
            </a:extLst>
          </p:cNvPr>
          <p:cNvSpPr txBox="1"/>
          <p:nvPr/>
        </p:nvSpPr>
        <p:spPr>
          <a:xfrm>
            <a:off x="934107" y="1809672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Monaco"/>
              </a:rPr>
              <a:t>yarn add react react-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Monaco"/>
              </a:rPr>
              <a:t>dom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490B3E-5071-4BAD-B6C2-0861FE1BB20B}"/>
              </a:ext>
            </a:extLst>
          </p:cNvPr>
          <p:cNvSpPr txBox="1"/>
          <p:nvPr/>
        </p:nvSpPr>
        <p:spPr>
          <a:xfrm>
            <a:off x="934107" y="2582182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Source Sans Pro" panose="020B0503030403020204" pitchFamily="34" charset="0"/>
              </a:rPr>
              <a:t>через </a:t>
            </a:r>
            <a:r>
              <a:rPr lang="en-US" b="0" i="0" dirty="0" err="1">
                <a:effectLst/>
                <a:latin typeface="Source Sans Pro" panose="020B0503030403020204" pitchFamily="34" charset="0"/>
              </a:rPr>
              <a:t>npm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224FD-F3DC-4867-8AF3-62E208C06372}"/>
              </a:ext>
            </a:extLst>
          </p:cNvPr>
          <p:cNvSpPr txBox="1"/>
          <p:nvPr/>
        </p:nvSpPr>
        <p:spPr>
          <a:xfrm>
            <a:off x="934107" y="3244334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444444"/>
                </a:solidFill>
                <a:effectLst/>
                <a:latin typeface="Monaco"/>
              </a:rPr>
              <a:t>npm</a:t>
            </a:r>
            <a:r>
              <a:rPr lang="en-US" b="0" i="0" dirty="0">
                <a:solidFill>
                  <a:srgbClr val="444444"/>
                </a:solidFill>
                <a:effectLst/>
                <a:latin typeface="Monaco"/>
              </a:rPr>
              <a:t> install --save react react-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Monaco"/>
              </a:rPr>
              <a:t>dom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295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D0E624-F215-4C0D-9469-F6783832FA45}"/>
              </a:ext>
            </a:extLst>
          </p:cNvPr>
          <p:cNvSpPr txBox="1"/>
          <p:nvPr/>
        </p:nvSpPr>
        <p:spPr>
          <a:xfrm>
            <a:off x="792216" y="498929"/>
            <a:ext cx="1089003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u="sng" dirty="0" err="1">
                <a:solidFill>
                  <a:srgbClr val="1A1A1A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hlinkClick r:id="rId2"/>
              </a:rPr>
              <a:t>Create</a:t>
            </a:r>
            <a:r>
              <a:rPr lang="ru-RU" sz="1800" u="sng" dirty="0">
                <a:solidFill>
                  <a:srgbClr val="1A1A1A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hlinkClick r:id="rId2"/>
              </a:rPr>
              <a:t> </a:t>
            </a:r>
            <a:r>
              <a:rPr lang="ru-RU" sz="1800" u="sng" dirty="0" err="1">
                <a:solidFill>
                  <a:srgbClr val="1A1A1A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hlinkClick r:id="rId2"/>
              </a:rPr>
              <a:t>React</a:t>
            </a:r>
            <a:r>
              <a:rPr lang="ru-RU" sz="1800" u="sng" dirty="0">
                <a:solidFill>
                  <a:srgbClr val="1A1A1A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hlinkClick r:id="rId2"/>
              </a:rPr>
              <a:t> </a:t>
            </a:r>
            <a:r>
              <a:rPr lang="ru-RU" sz="1800" u="sng" dirty="0" err="1">
                <a:solidFill>
                  <a:srgbClr val="1A1A1A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hlinkClick r:id="rId2"/>
              </a:rPr>
              <a:t>App</a:t>
            </a:r>
            <a:r>
              <a:rPr lang="ru-RU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 — для создания </a:t>
            </a:r>
            <a:r>
              <a:rPr lang="ru-RU" sz="1800" b="1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нового </a:t>
            </a:r>
            <a:r>
              <a:rPr lang="ru-RU" sz="1800" b="1" u="sng" dirty="0">
                <a:solidFill>
                  <a:srgbClr val="1A1A1A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hlinkClick r:id="rId3"/>
              </a:rPr>
              <a:t>одностраничного</a:t>
            </a:r>
            <a:r>
              <a:rPr lang="ru-RU" sz="1800" b="1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 приложения</a:t>
            </a:r>
            <a:r>
              <a:rPr lang="ru-RU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 на </a:t>
            </a:r>
            <a:r>
              <a:rPr lang="ru-RU" sz="18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React</a:t>
            </a:r>
            <a:r>
              <a:rPr lang="ru-RU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. Необходимы </a:t>
            </a:r>
            <a:r>
              <a:rPr lang="ru-RU" dirty="0">
                <a:solidFill>
                  <a:srgbClr val="000000"/>
                </a:solidFill>
                <a:latin typeface="Segoe U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Node.js не ниже версии 14.0.0 и </a:t>
            </a:r>
            <a:r>
              <a:rPr lang="ru-RU" dirty="0" err="1">
                <a:solidFill>
                  <a:srgbClr val="000000"/>
                </a:solidFill>
                <a:latin typeface="Segoe U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npm</a:t>
            </a:r>
            <a:r>
              <a:rPr lang="ru-RU" dirty="0">
                <a:solidFill>
                  <a:srgbClr val="000000"/>
                </a:solidFill>
                <a:latin typeface="Segoe U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не ниже версии 5.6</a:t>
            </a:r>
            <a:endParaRPr lang="ru-RU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DC47C7-39EB-4447-AC38-27A72F8E529C}"/>
              </a:ext>
            </a:extLst>
          </p:cNvPr>
          <p:cNvSpPr txBox="1"/>
          <p:nvPr/>
        </p:nvSpPr>
        <p:spPr>
          <a:xfrm>
            <a:off x="792216" y="1636251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Для создания проекта выполните команды:</a:t>
            </a:r>
            <a:endParaRPr lang="ru-RU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7EDD39E-42D1-48C2-A5B9-84D9B5AD3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85275"/>
            <a:ext cx="4650828" cy="877163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npx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create-react-app my-app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FAC86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cd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my-app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rgbClr val="79B6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npm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start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9A70EA-1997-4481-852C-1F6166033630}"/>
              </a:ext>
            </a:extLst>
          </p:cNvPr>
          <p:cNvSpPr txBox="1"/>
          <p:nvPr/>
        </p:nvSpPr>
        <p:spPr>
          <a:xfrm>
            <a:off x="792216" y="3795563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Для создания проекта </a:t>
            </a:r>
            <a:r>
              <a:rPr lang="en-US" sz="1800" b="1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c TypeScript</a:t>
            </a:r>
            <a:r>
              <a:rPr lang="ru-RU" sz="1800" b="1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:</a:t>
            </a:r>
            <a:endParaRPr lang="ru-RU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FBD490-62BF-458B-BFF3-9800950562C3}"/>
              </a:ext>
            </a:extLst>
          </p:cNvPr>
          <p:cNvSpPr txBox="1"/>
          <p:nvPr/>
        </p:nvSpPr>
        <p:spPr>
          <a:xfrm>
            <a:off x="792216" y="4375526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effectLst/>
                <a:latin typeface="SFMono-Regular"/>
              </a:rPr>
              <a:t>npx</a:t>
            </a:r>
            <a:r>
              <a:rPr lang="en-US" i="0" dirty="0">
                <a:effectLst/>
                <a:latin typeface="SFMono-Regular"/>
              </a:rPr>
              <a:t> create-react-app my-app --template typescript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EE5762-13B9-49BA-9552-C1EF0EFBFA10}"/>
              </a:ext>
            </a:extLst>
          </p:cNvPr>
          <p:cNvSpPr txBox="1"/>
          <p:nvPr/>
        </p:nvSpPr>
        <p:spPr>
          <a:xfrm>
            <a:off x="792216" y="5037083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FMono-Regular"/>
              </a:rPr>
              <a:t>yarn create react-app my-app --template typescript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7293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F30DA9-4762-4C9C-9B9C-9247F2730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76" y="701143"/>
            <a:ext cx="8455181" cy="1332609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96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F1C388-CF30-40B3-9EAB-FC4C1C04F53C}"/>
              </a:ext>
            </a:extLst>
          </p:cNvPr>
          <p:cNvSpPr txBox="1"/>
          <p:nvPr/>
        </p:nvSpPr>
        <p:spPr>
          <a:xfrm>
            <a:off x="807983" y="579961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JSX — расширение языка </a:t>
            </a:r>
            <a:r>
              <a:rPr lang="ru-RU" sz="18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JavaScript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4ADD8-3EDB-420B-8FBB-19EB3E4E81E2}"/>
              </a:ext>
            </a:extLst>
          </p:cNvPr>
          <p:cNvSpPr txBox="1"/>
          <p:nvPr/>
        </p:nvSpPr>
        <p:spPr>
          <a:xfrm>
            <a:off x="807983" y="1343485"/>
            <a:ext cx="10842734" cy="1218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 компиляции каждое JSX-выражение становится обычным вызовом </a:t>
            </a:r>
            <a:r>
              <a:rPr lang="ru-RU" sz="18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r>
              <a:rPr lang="ru-RU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-функции, результат которого — объект </a:t>
            </a:r>
            <a:r>
              <a:rPr lang="ru-RU" sz="18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r>
              <a:rPr lang="ru-RU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1500"/>
              </a:spcBef>
              <a:spcAft>
                <a:spcPts val="80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4412E21-09C6-4DFC-AAED-5D299DCD6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84" y="2430631"/>
            <a:ext cx="6434177" cy="7869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902112C-420C-4725-B18D-A191D99AEA40}"/>
              </a:ext>
            </a:extLst>
          </p:cNvPr>
          <p:cNvSpPr txBox="1"/>
          <p:nvPr/>
        </p:nvSpPr>
        <p:spPr>
          <a:xfrm>
            <a:off x="807984" y="3859188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Встраивание выражений в 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JSX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725EEE3-0960-4328-A855-9CEE2B19C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83" y="4611061"/>
            <a:ext cx="6971167" cy="104876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0250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E94384-6BE0-4875-8905-07106572FEAD}"/>
              </a:ext>
            </a:extLst>
          </p:cNvPr>
          <p:cNvSpPr txBox="1"/>
          <p:nvPr/>
        </p:nvSpPr>
        <p:spPr>
          <a:xfrm>
            <a:off x="587264" y="504525"/>
            <a:ext cx="10763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Встраиваем результат вызова </a:t>
            </a:r>
            <a:r>
              <a:rPr lang="ru-RU" dirty="0" err="1"/>
              <a:t>JavaScript</a:t>
            </a:r>
            <a:r>
              <a:rPr lang="ru-RU" dirty="0"/>
              <a:t>-функции </a:t>
            </a:r>
            <a:r>
              <a:rPr lang="ru-RU" dirty="0" err="1"/>
              <a:t>formatName</a:t>
            </a:r>
            <a:r>
              <a:rPr lang="ru-RU" dirty="0"/>
              <a:t>(</a:t>
            </a:r>
            <a:r>
              <a:rPr lang="ru-RU" dirty="0" err="1"/>
              <a:t>user</a:t>
            </a:r>
            <a:r>
              <a:rPr lang="ru-RU" dirty="0"/>
              <a:t>) в элемент &lt;h1&gt;: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529226-FD96-4216-BFFA-2C6CE5B9F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1" y="1158645"/>
            <a:ext cx="6840027" cy="5151485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91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07DC6A-7958-448A-8D44-D58BC7753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9" y="471858"/>
            <a:ext cx="7845493" cy="25222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3F80FD-A787-4BBB-8D23-D65EA472C2B5}"/>
              </a:ext>
            </a:extLst>
          </p:cNvPr>
          <p:cNvSpPr txBox="1"/>
          <p:nvPr/>
        </p:nvSpPr>
        <p:spPr>
          <a:xfrm>
            <a:off x="589059" y="3494521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Использование атрибутов 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JSX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260842-5817-43AC-93F7-BC81E26C6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9" y="4147036"/>
            <a:ext cx="8738022" cy="80333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56222B9-B0CC-4967-99DD-F6AE6B715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59" y="5254743"/>
            <a:ext cx="8577732" cy="848516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605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E1E07D-BBC8-4BC6-B462-FAF4F1983DEF}"/>
              </a:ext>
            </a:extLst>
          </p:cNvPr>
          <p:cNvSpPr txBox="1"/>
          <p:nvPr/>
        </p:nvSpPr>
        <p:spPr>
          <a:xfrm>
            <a:off x="508437" y="469602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Использование дочерних элементов в JSX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3825E7-B725-4F9B-A658-A914AB5A6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37" y="1206305"/>
            <a:ext cx="6922996" cy="89051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1DD465-E93F-4E87-A8C7-FCEA469E0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37" y="2418255"/>
            <a:ext cx="4836073" cy="2518467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36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FD7228F-B88B-44FA-9F90-5C05FC4BE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47" y="1754531"/>
            <a:ext cx="7520849" cy="182191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AE77CC-C417-4A0A-A476-D9543C7E8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81" y="4052868"/>
            <a:ext cx="8115179" cy="14728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9E987D-F735-49F2-A794-4A65871D5242}"/>
              </a:ext>
            </a:extLst>
          </p:cNvPr>
          <p:cNvSpPr txBox="1"/>
          <p:nvPr/>
        </p:nvSpPr>
        <p:spPr>
          <a:xfrm>
            <a:off x="708746" y="546822"/>
            <a:ext cx="10737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Babel</a:t>
            </a:r>
            <a:r>
              <a:rPr lang="ru-RU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компилирует JSX в вызовы </a:t>
            </a:r>
            <a:r>
              <a:rPr lang="ru-RU" sz="1800" dirty="0" err="1">
                <a:solidFill>
                  <a:srgbClr val="1A1A1A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React.createElement</a:t>
            </a:r>
            <a:r>
              <a:rPr lang="ru-RU" sz="1800" dirty="0">
                <a:solidFill>
                  <a:srgbClr val="1A1A1A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ru-RU" sz="18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175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FF63190-7FC4-447F-B998-933E16E5C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55" y="1795741"/>
            <a:ext cx="7621871" cy="32665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8D771F-AB29-4480-80B3-23E6CEC7FF3B}"/>
              </a:ext>
            </a:extLst>
          </p:cNvPr>
          <p:cNvSpPr txBox="1"/>
          <p:nvPr/>
        </p:nvSpPr>
        <p:spPr>
          <a:xfrm>
            <a:off x="686555" y="800678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Эти объекты называются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React-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элементами. 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875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1BEEC6-B923-48B8-A415-5F099EFAC49C}"/>
              </a:ext>
            </a:extLst>
          </p:cNvPr>
          <p:cNvSpPr txBox="1"/>
          <p:nvPr/>
        </p:nvSpPr>
        <p:spPr>
          <a:xfrm>
            <a:off x="618796" y="390775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282C34"/>
                </a:solidFill>
                <a:effectLst/>
                <a:latin typeface="-apple-system"/>
              </a:rPr>
              <a:t>Рендеринг элементов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005031-AF1E-410D-B415-AC3D3D245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85" y="1055222"/>
            <a:ext cx="3521569" cy="7759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9EB4B9-A20C-4EEF-A33D-C212254B048D}"/>
              </a:ext>
            </a:extLst>
          </p:cNvPr>
          <p:cNvSpPr txBox="1"/>
          <p:nvPr/>
        </p:nvSpPr>
        <p:spPr>
          <a:xfrm>
            <a:off x="618796" y="2598003"/>
            <a:ext cx="10937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Для рендеринга </a:t>
            </a:r>
            <a:r>
              <a:rPr lang="en-US" dirty="0"/>
              <a:t>React-</a:t>
            </a:r>
            <a:r>
              <a:rPr lang="ru-RU" dirty="0"/>
              <a:t>элемента, сперва передайте </a:t>
            </a:r>
            <a:r>
              <a:rPr lang="en-US" dirty="0"/>
              <a:t>DOM-</a:t>
            </a:r>
            <a:r>
              <a:rPr lang="ru-RU" dirty="0"/>
              <a:t>элемент в </a:t>
            </a:r>
            <a:r>
              <a:rPr lang="en-US" dirty="0" err="1"/>
              <a:t>ReactDOM.createRoot</a:t>
            </a:r>
            <a:r>
              <a:rPr lang="en-US" dirty="0"/>
              <a:t>(), </a:t>
            </a:r>
            <a:r>
              <a:rPr lang="ru-RU" dirty="0"/>
              <a:t>далее передайте </a:t>
            </a:r>
            <a:r>
              <a:rPr lang="en-US" dirty="0"/>
              <a:t>React-</a:t>
            </a:r>
            <a:r>
              <a:rPr lang="ru-RU" dirty="0"/>
              <a:t>элемент в </a:t>
            </a:r>
            <a:r>
              <a:rPr lang="en-US" dirty="0" err="1"/>
              <a:t>root.render</a:t>
            </a:r>
            <a:r>
              <a:rPr lang="en-US" dirty="0"/>
              <a:t>():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B8F4D38-B699-4854-9A45-B534C8873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85" y="3454869"/>
            <a:ext cx="5345115" cy="1926881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310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32A128-5C32-4550-8CC2-87963E5158D3}"/>
              </a:ext>
            </a:extLst>
          </p:cNvPr>
          <p:cNvSpPr txBox="1"/>
          <p:nvPr/>
        </p:nvSpPr>
        <p:spPr>
          <a:xfrm>
            <a:off x="618796" y="627258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Элементы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React </a:t>
            </a:r>
            <a:r>
              <a:rPr lang="ru-RU" b="0" i="0" u="none" strike="noStrike" dirty="0" err="1">
                <a:solidFill>
                  <a:srgbClr val="1A1A1A"/>
                </a:solidFill>
                <a:effectLst/>
                <a:latin typeface="-apple-system"/>
                <a:hlinkClick r:id="rId2"/>
              </a:rPr>
              <a:t>иммутабельны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(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неизменяемые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)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4F4CFF-EBAD-48D6-B43F-205A1A5BF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64" y="1181888"/>
            <a:ext cx="8016958" cy="5349247"/>
          </a:xfrm>
          <a:prstGeom prst="rect">
            <a:avLst/>
          </a:prstGeom>
        </p:spPr>
      </p:pic>
      <p:pic>
        <p:nvPicPr>
          <p:cNvPr id="6" name="Picture 2" descr="В DOM видно частичное обновление">
            <a:extLst>
              <a:ext uri="{FF2B5EF4-FFF2-40B4-BE49-F238E27FC236}">
                <a16:creationId xmlns:a16="http://schemas.microsoft.com/office/drawing/2014/main" id="{AC1B9A76-C099-4361-B163-9E4E418A581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6214" y="559673"/>
            <a:ext cx="3777022" cy="602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51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92D5FD-B51B-46DD-84E4-4A4E809E8A1D}"/>
              </a:ext>
            </a:extLst>
          </p:cNvPr>
          <p:cNvSpPr txBox="1"/>
          <p:nvPr/>
        </p:nvSpPr>
        <p:spPr>
          <a:xfrm>
            <a:off x="555734" y="501134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282C34"/>
                </a:solidFill>
                <a:effectLst/>
                <a:latin typeface="-apple-system"/>
              </a:rPr>
              <a:t>Компоненты и пропсы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4A5851-FBBC-4ABB-BFD1-997B54D34DF0}"/>
              </a:ext>
            </a:extLst>
          </p:cNvPr>
          <p:cNvSpPr txBox="1"/>
          <p:nvPr/>
        </p:nvSpPr>
        <p:spPr>
          <a:xfrm>
            <a:off x="555734" y="1037162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Функциональные и классовые компоненты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5C1F85-003A-4F7F-A803-DBBB2AC1F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8" y="1738380"/>
            <a:ext cx="5982488" cy="133589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AEFC6A-8B3F-4C07-954D-A82740369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8" y="3406162"/>
            <a:ext cx="6777733" cy="2027526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408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E9F96B-F62C-4F19-BC71-8768B6963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604069"/>
            <a:ext cx="3522235" cy="51281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2614F6-BC1B-481C-9305-2EB5C8C41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1373290"/>
            <a:ext cx="6252020" cy="644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2F43FB-769E-4E8B-9EA2-E11E8C5EE033}"/>
              </a:ext>
            </a:extLst>
          </p:cNvPr>
          <p:cNvSpPr txBox="1"/>
          <p:nvPr/>
        </p:nvSpPr>
        <p:spPr>
          <a:xfrm>
            <a:off x="608330" y="2368985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Этот компонент выведет «Привет, Алиса» на страницу: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94F903C-BB13-4116-AE4C-1703E55AE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29" y="2905513"/>
            <a:ext cx="8169518" cy="3348418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218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879136-6D33-4CA6-ACC0-ECAEFBE31C9C}"/>
              </a:ext>
            </a:extLst>
          </p:cNvPr>
          <p:cNvSpPr txBox="1"/>
          <p:nvPr/>
        </p:nvSpPr>
        <p:spPr>
          <a:xfrm>
            <a:off x="539969" y="516900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Композиция компонентов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817488-F91D-47F4-BF03-309DC93FE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68" y="1081530"/>
            <a:ext cx="6239203" cy="5350118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552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3810BB-E4F2-4E3B-8DCD-AD18648397EB}"/>
              </a:ext>
            </a:extLst>
          </p:cNvPr>
          <p:cNvSpPr txBox="1"/>
          <p:nvPr/>
        </p:nvSpPr>
        <p:spPr>
          <a:xfrm>
            <a:off x="634562" y="453837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Извлечение компонентов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5D61E7-60E3-493A-B2ED-6E2B91C4F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463" y="181387"/>
            <a:ext cx="4972978" cy="6574034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591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50B20B-69AD-4041-8F06-B08EA3F315DF}"/>
              </a:ext>
            </a:extLst>
          </p:cNvPr>
          <p:cNvSpPr txBox="1"/>
          <p:nvPr/>
        </p:nvSpPr>
        <p:spPr>
          <a:xfrm>
            <a:off x="587265" y="485369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Извлечём </a:t>
            </a:r>
            <a:r>
              <a:rPr lang="en-US" dirty="0"/>
              <a:t>Avatar: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421177-CDDE-47D1-9BE0-4E7F201DE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64" y="1029416"/>
            <a:ext cx="4883369" cy="3225713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220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B37172-B581-48D0-8CF2-18EBED44575F}"/>
              </a:ext>
            </a:extLst>
          </p:cNvPr>
          <p:cNvSpPr txBox="1"/>
          <p:nvPr/>
        </p:nvSpPr>
        <p:spPr>
          <a:xfrm>
            <a:off x="429611" y="469603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Упростим </a:t>
            </a:r>
            <a:r>
              <a:rPr lang="en-US" dirty="0"/>
              <a:t>Comment: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57AC08-9EF9-4D7B-A668-45F5E2DE5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734" y="230679"/>
            <a:ext cx="5490866" cy="6459028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59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D82EB-E051-4D8D-805A-C93FC10BA6B4}"/>
              </a:ext>
            </a:extLst>
          </p:cNvPr>
          <p:cNvSpPr txBox="1"/>
          <p:nvPr/>
        </p:nvSpPr>
        <p:spPr>
          <a:xfrm>
            <a:off x="650328" y="485368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Извлечём компонент </a:t>
            </a:r>
            <a:r>
              <a:rPr lang="en-US" dirty="0" err="1"/>
              <a:t>UserInfo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3ACFA6-23E1-4147-86DC-F0709B896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18" y="1115584"/>
            <a:ext cx="5519492" cy="4003472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748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1DE840-762C-4C8B-AFF4-75E4A6EA6F51}"/>
              </a:ext>
            </a:extLst>
          </p:cNvPr>
          <p:cNvSpPr txBox="1"/>
          <p:nvPr/>
        </p:nvSpPr>
        <p:spPr>
          <a:xfrm>
            <a:off x="492673" y="311948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Упростить </a:t>
            </a:r>
            <a:r>
              <a:rPr lang="en-US" dirty="0"/>
              <a:t>Comment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EA3808-AA75-4FDA-9CE8-B0196D874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74" y="807106"/>
            <a:ext cx="5972272" cy="5045278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189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C88459-50ED-423F-9CFA-14FA3CDCB8A0}"/>
              </a:ext>
            </a:extLst>
          </p:cNvPr>
          <p:cNvSpPr txBox="1"/>
          <p:nvPr/>
        </p:nvSpPr>
        <p:spPr>
          <a:xfrm>
            <a:off x="587265" y="264651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Пропсы можно только читать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35301A-A2CB-40E5-BBC8-FBE42A617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64" y="856035"/>
            <a:ext cx="3401411" cy="14197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CE22AA-BCF1-4B7A-8E19-62800FA0A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64" y="2735519"/>
            <a:ext cx="5710080" cy="14197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13A2F1-6F26-4C72-A04E-30A6D969ACCA}"/>
              </a:ext>
            </a:extLst>
          </p:cNvPr>
          <p:cNvSpPr txBox="1"/>
          <p:nvPr/>
        </p:nvSpPr>
        <p:spPr>
          <a:xfrm>
            <a:off x="587264" y="4615003"/>
            <a:ext cx="11299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React</a:t>
            </a:r>
            <a:r>
              <a:rPr lang="ru-RU" dirty="0"/>
              <a:t>-компоненты обязаны вести себя как чистые функции по отношению к своим пропсам.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2289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48399" y="285003"/>
            <a:ext cx="3113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Состояние и жизненный цикл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99" y="853840"/>
            <a:ext cx="9960022" cy="4998320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740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1664" y="567636"/>
            <a:ext cx="4917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-apple-system"/>
              </a:rPr>
              <a:t>Извлечём компонент, показывающий время: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64" y="936967"/>
            <a:ext cx="9064598" cy="5669555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101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753686" y="661893"/>
            <a:ext cx="107012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Реализовать </a:t>
            </a:r>
            <a:r>
              <a:rPr lang="ru-RU" dirty="0" err="1"/>
              <a:t>Clock</a:t>
            </a:r>
            <a:r>
              <a:rPr lang="ru-RU" dirty="0"/>
              <a:t> таким образом, чтобы компонент сам себя обновлял: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86" y="1255189"/>
            <a:ext cx="3298564" cy="739865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25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67F7325-3757-45E4-BE6E-8E27CAA65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67" y="2707328"/>
            <a:ext cx="8985722" cy="382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484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25533" y="418007"/>
            <a:ext cx="44596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-apple-system"/>
              </a:rPr>
              <a:t>Добавим внутреннее состояние в класс</a:t>
            </a:r>
            <a:endParaRPr lang="ru-RU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67569" y="1049848"/>
            <a:ext cx="3533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Заменим </a:t>
            </a:r>
            <a:r>
              <a:rPr lang="en-US" dirty="0" err="1"/>
              <a:t>props.date</a:t>
            </a:r>
            <a:r>
              <a:rPr lang="en-US" dirty="0"/>
              <a:t> </a:t>
            </a:r>
            <a:r>
              <a:rPr lang="ru-RU" dirty="0"/>
              <a:t>на </a:t>
            </a:r>
            <a:r>
              <a:rPr lang="en-US" dirty="0" err="1"/>
              <a:t>state.date</a:t>
            </a:r>
            <a:r>
              <a:rPr lang="en-US" dirty="0"/>
              <a:t> :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26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34BB4E-15D5-47E7-AA5B-E1514987B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33" y="1681688"/>
            <a:ext cx="9966068" cy="484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55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53934" y="512264"/>
            <a:ext cx="111667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Добавим конструктор класса, в котором укажем начальное состояние в переменной </a:t>
            </a:r>
            <a:r>
              <a:rPr lang="ru-RU" dirty="0" err="1"/>
              <a:t>this.state</a:t>
            </a:r>
            <a:r>
              <a:rPr lang="ru-RU" dirty="0"/>
              <a:t>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758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9819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00960" y="451257"/>
            <a:ext cx="4173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Удалим </a:t>
            </a:r>
            <a:r>
              <a:rPr lang="ru-RU" dirty="0" err="1"/>
              <a:t>проп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из элемента &lt;</a:t>
            </a:r>
            <a:r>
              <a:rPr lang="ru-RU" dirty="0" err="1"/>
              <a:t>Clock</a:t>
            </a:r>
            <a:r>
              <a:rPr lang="ru-RU" dirty="0"/>
              <a:t> /&gt;: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29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4466A8F-052D-48B9-ACA9-F7D1E73DB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82" y="1018569"/>
            <a:ext cx="11295869" cy="538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506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98409" y="334879"/>
            <a:ext cx="31924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Добавим методы жизненного цикла в класс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886" y="138944"/>
            <a:ext cx="7697940" cy="6585169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637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54182" y="379260"/>
            <a:ext cx="110171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/>
              <a:t>componentDidMount</a:t>
            </a:r>
            <a:r>
              <a:rPr lang="ru-RU" dirty="0"/>
              <a:t>() запускается после того, как компонент </a:t>
            </a:r>
            <a:r>
              <a:rPr lang="ru-RU" dirty="0" err="1"/>
              <a:t>отрендерился</a:t>
            </a:r>
            <a:r>
              <a:rPr lang="ru-RU" dirty="0"/>
              <a:t> в DOM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904869"/>
            <a:ext cx="4812437" cy="248672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54182" y="3547870"/>
            <a:ext cx="104186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сбросить таймер в методе жизненного цикла </a:t>
            </a:r>
            <a:r>
              <a:rPr lang="ru-RU" dirty="0" err="1"/>
              <a:t>componentWillUnmount</a:t>
            </a:r>
            <a:r>
              <a:rPr lang="ru-RU" dirty="0"/>
              <a:t>():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81" y="4073479"/>
            <a:ext cx="4905491" cy="1379670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850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10752" y="259758"/>
            <a:ext cx="7392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this.setState</a:t>
            </a:r>
            <a:r>
              <a:rPr lang="ru-RU" dirty="0"/>
              <a:t>() планирует обновление внутреннего состояния компонента: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89" y="757798"/>
            <a:ext cx="5325030" cy="5613329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602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3" y="308910"/>
            <a:ext cx="8619376" cy="609189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0003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21606" y="418007"/>
            <a:ext cx="36668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Не изменяйте состояние напрямую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44173" y="2313309"/>
            <a:ext cx="2415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используйте </a:t>
            </a:r>
            <a:r>
              <a:rPr lang="en-US" dirty="0" err="1"/>
              <a:t>setState</a:t>
            </a:r>
            <a:r>
              <a:rPr lang="en-US" dirty="0"/>
              <a:t>():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34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E414C6-63BE-4FAA-ADA3-84B8A037C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73" y="1012301"/>
            <a:ext cx="6639121" cy="115548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61CE610-3D75-4F7B-87D9-911297B24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73" y="3016384"/>
            <a:ext cx="8244261" cy="97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474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44522" y="501134"/>
            <a:ext cx="51172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Обновления состояния могут быть асинхронными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35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801D60-B62B-40CA-AFC5-898383166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50" y="1076423"/>
            <a:ext cx="7722785" cy="105393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DA92FBF-DA66-4E62-A149-C48F8F5F1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95" y="2657070"/>
            <a:ext cx="10437327" cy="105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21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04058" y="429136"/>
            <a:ext cx="110337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Вместо стрелочных функций можно использовать и обычные функции: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4960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37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CAEEFA-81A7-42AA-99DE-02FEB01E4E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502"/>
          <a:stretch/>
        </p:blipFill>
        <p:spPr>
          <a:xfrm>
            <a:off x="489579" y="854284"/>
            <a:ext cx="10317852" cy="5502066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AB78D28-22FC-4EA7-9676-050B478F0295}"/>
              </a:ext>
            </a:extLst>
          </p:cNvPr>
          <p:cNvSpPr/>
          <p:nvPr/>
        </p:nvSpPr>
        <p:spPr>
          <a:xfrm>
            <a:off x="684131" y="445762"/>
            <a:ext cx="102554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Их можно обновлять по отдельности с помощью отдельных вызовов </a:t>
            </a:r>
            <a:r>
              <a:rPr lang="ru-RU" dirty="0" err="1"/>
              <a:t>setState</a:t>
            </a:r>
            <a:r>
              <a:rPr lang="ru-RU" dirty="0"/>
              <a:t>():</a:t>
            </a:r>
          </a:p>
        </p:txBody>
      </p:sp>
    </p:spTree>
    <p:extLst>
      <p:ext uri="{BB962C8B-B14F-4D97-AF65-F5344CB8AC3E}">
        <p14:creationId xmlns:p14="http://schemas.microsoft.com/office/powerpoint/2010/main" val="38967621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84131" y="445762"/>
            <a:ext cx="102554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Их можно обновлять по отдельности с помощью отдельных вызовов </a:t>
            </a:r>
            <a:r>
              <a:rPr lang="ru-RU" dirty="0" err="1"/>
              <a:t>setState</a:t>
            </a:r>
            <a:r>
              <a:rPr lang="ru-RU" dirty="0"/>
              <a:t>():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38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091F7B-332E-4BA8-8F24-7067E81C72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356"/>
          <a:stretch/>
        </p:blipFill>
        <p:spPr>
          <a:xfrm>
            <a:off x="684131" y="1274322"/>
            <a:ext cx="10977294" cy="490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60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75417" y="384756"/>
            <a:ext cx="3560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Однонаправленный поток данных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077528" y="6366078"/>
            <a:ext cx="2743200" cy="365125"/>
          </a:xfrm>
        </p:spPr>
        <p:txBody>
          <a:bodyPr/>
          <a:lstStyle/>
          <a:p>
            <a:fld id="{FF2CB33F-535A-4D66-94AD-27902166E563}" type="slidenum">
              <a:rPr lang="ru-RU" smtClean="0"/>
              <a:t>39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31EC71-DA9E-4147-B6CE-9CEC9AEAC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72" y="817873"/>
            <a:ext cx="11122408" cy="572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638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29" y="407802"/>
            <a:ext cx="3725333" cy="465058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036" y="657969"/>
            <a:ext cx="2689923" cy="3741982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31676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75150" y="334880"/>
            <a:ext cx="21304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Обработка событий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75150" y="920342"/>
            <a:ext cx="111291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События в </a:t>
            </a:r>
            <a:r>
              <a:rPr lang="ru-RU" dirty="0" err="1"/>
              <a:t>React</a:t>
            </a:r>
            <a:r>
              <a:rPr lang="ru-RU" dirty="0"/>
              <a:t> именуются в стиле </a:t>
            </a:r>
            <a:r>
              <a:rPr lang="ru-RU" dirty="0" err="1"/>
              <a:t>camelCase</a:t>
            </a:r>
            <a:r>
              <a:rPr lang="ru-RU" dirty="0"/>
              <a:t> вместо нижнего регистра.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 JSX вы передаёте функцию как обработчик события вместо строки.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5150" y="1782803"/>
            <a:ext cx="20874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Например, в </a:t>
            </a:r>
            <a:r>
              <a:rPr lang="en-US" dirty="0"/>
              <a:t>HTML: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0" y="2251890"/>
            <a:ext cx="5103620" cy="128933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75150" y="3857111"/>
            <a:ext cx="2473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В </a:t>
            </a:r>
            <a:r>
              <a:rPr lang="en-US" dirty="0"/>
              <a:t>React </a:t>
            </a:r>
            <a:r>
              <a:rPr lang="ru-RU" dirty="0"/>
              <a:t>немного иначе: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35" y="4366303"/>
            <a:ext cx="4763890" cy="1164108"/>
          </a:xfrm>
          <a:prstGeom prst="rect">
            <a:avLst/>
          </a:prstGeom>
        </p:spPr>
      </p:pic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5405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81" y="566082"/>
            <a:ext cx="9053071" cy="132922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81" y="2055329"/>
            <a:ext cx="6695402" cy="4511726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134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37309" y="373764"/>
            <a:ext cx="112332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Компонент </a:t>
            </a:r>
            <a:r>
              <a:rPr lang="ru-RU" dirty="0" err="1"/>
              <a:t>Toggle</a:t>
            </a:r>
            <a:r>
              <a:rPr lang="ru-RU" dirty="0"/>
              <a:t> </a:t>
            </a:r>
            <a:r>
              <a:rPr lang="ru-RU" dirty="0" err="1"/>
              <a:t>рендерит</a:t>
            </a:r>
            <a:r>
              <a:rPr lang="ru-RU" dirty="0"/>
              <a:t> кнопку, которая позволяет пользователю переключать состояния между «Включено» и «Выключено»: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43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916B32-CDFB-4F6F-876B-60D444A9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09" y="1226698"/>
            <a:ext cx="9605917" cy="535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885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022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04058" y="395886"/>
            <a:ext cx="105017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 Можете использовать синтаксис публичных полей класса чтобы правильно привязать </a:t>
            </a:r>
            <a:r>
              <a:rPr lang="ru-RU" dirty="0" err="1"/>
              <a:t>колбэки</a:t>
            </a:r>
            <a:r>
              <a:rPr lang="ru-RU" dirty="0"/>
              <a:t>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0758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1064" y="368131"/>
            <a:ext cx="3315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стрелочные функции в </a:t>
            </a:r>
            <a:r>
              <a:rPr lang="ru-RU" dirty="0" err="1"/>
              <a:t>колбэке</a:t>
            </a:r>
            <a:r>
              <a:rPr lang="ru-RU" dirty="0"/>
              <a:t>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4274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5938" y="484508"/>
            <a:ext cx="4702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Передача аргументов в обработчики событий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47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8960AF-BA07-49DA-B678-822EBF467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76" y="853840"/>
            <a:ext cx="11849970" cy="493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176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48572" y="467883"/>
            <a:ext cx="2423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282C34"/>
                </a:solidFill>
                <a:latin typeface="-apple-system"/>
              </a:rPr>
              <a:t>Условный рендеринг</a:t>
            </a:r>
            <a:endParaRPr lang="ru-RU" i="0" dirty="0">
              <a:solidFill>
                <a:srgbClr val="282C34"/>
              </a:solidFill>
              <a:effectLst/>
              <a:latin typeface="-apple-system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71" y="961752"/>
            <a:ext cx="5829119" cy="2679223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0170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87927" y="323888"/>
            <a:ext cx="113496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Можно создать компонент </a:t>
            </a:r>
            <a:r>
              <a:rPr lang="ru-RU" dirty="0" err="1"/>
              <a:t>Greeting</a:t>
            </a:r>
            <a:r>
              <a:rPr lang="ru-RU" dirty="0"/>
              <a:t>, который отражает один из этих компонентов в зависимости от того, выполнен ли вход на сайт: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27" y="1103096"/>
            <a:ext cx="9379352" cy="4250299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8320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87265" y="334879"/>
            <a:ext cx="25052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/>
              <a:t>Переменные-элементы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50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1914131-947E-4429-B0A0-83DEDE706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55" y="814184"/>
            <a:ext cx="11625429" cy="420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1059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01355" y="136525"/>
            <a:ext cx="111501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LoginControl</a:t>
            </a:r>
            <a:r>
              <a:rPr lang="ru-RU" dirty="0"/>
              <a:t> </a:t>
            </a:r>
            <a:r>
              <a:rPr lang="ru-RU" dirty="0" err="1"/>
              <a:t>рендерит</a:t>
            </a:r>
            <a:r>
              <a:rPr lang="ru-RU" dirty="0"/>
              <a:t> либо &lt;</a:t>
            </a:r>
            <a:r>
              <a:rPr lang="ru-RU" dirty="0" err="1"/>
              <a:t>LoginButton</a:t>
            </a:r>
            <a:r>
              <a:rPr lang="ru-RU" dirty="0"/>
              <a:t> /&gt;, либо &lt;</a:t>
            </a:r>
            <a:r>
              <a:rPr lang="ru-RU" dirty="0" err="1"/>
              <a:t>LogoutButton</a:t>
            </a:r>
            <a:r>
              <a:rPr lang="ru-RU" dirty="0"/>
              <a:t> /&gt; в зависимости от текущего состояния, и всегда </a:t>
            </a:r>
            <a:r>
              <a:rPr lang="ru-RU" dirty="0" err="1"/>
              <a:t>рендерит</a:t>
            </a:r>
            <a:r>
              <a:rPr lang="ru-RU" dirty="0"/>
              <a:t> &lt;</a:t>
            </a:r>
            <a:r>
              <a:rPr lang="ru-RU" dirty="0" err="1"/>
              <a:t>Greeting</a:t>
            </a:r>
            <a:r>
              <a:rPr lang="ru-RU" dirty="0"/>
              <a:t> /&gt; 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51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C7A77C-48BA-42B5-8ECB-7BD543FD0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33" y="804420"/>
            <a:ext cx="10321250" cy="596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3513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5690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810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06338" y="334879"/>
            <a:ext cx="21874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Встроенные условия </a:t>
            </a:r>
            <a:r>
              <a:rPr lang="ru-RU" dirty="0" err="1"/>
              <a:t>if</a:t>
            </a:r>
            <a:r>
              <a:rPr lang="ru-RU" dirty="0"/>
              <a:t> с логическим оператором &amp;&amp;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033" y="122321"/>
            <a:ext cx="9186797" cy="654449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06338" y="1737051"/>
            <a:ext cx="23204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</a:t>
            </a:r>
            <a:r>
              <a:rPr lang="en-US" dirty="0"/>
              <a:t>JavaScript-</a:t>
            </a:r>
            <a:r>
              <a:rPr lang="ru-RU" dirty="0"/>
              <a:t>выражение </a:t>
            </a:r>
          </a:p>
          <a:p>
            <a:r>
              <a:rPr lang="en-US" b="1" dirty="0"/>
              <a:t>true &amp;&amp; expression </a:t>
            </a:r>
            <a:r>
              <a:rPr lang="ru-RU" dirty="0"/>
              <a:t>всегда вычисляется как </a:t>
            </a:r>
            <a:r>
              <a:rPr lang="en-US" dirty="0"/>
              <a:t>expression, </a:t>
            </a:r>
            <a:r>
              <a:rPr lang="ru-RU" dirty="0"/>
              <a:t>а выражение </a:t>
            </a:r>
          </a:p>
          <a:p>
            <a:r>
              <a:rPr lang="en-US" b="1" dirty="0"/>
              <a:t>false &amp;&amp; expression </a:t>
            </a:r>
            <a:r>
              <a:rPr lang="en-US" dirty="0"/>
              <a:t>— </a:t>
            </a:r>
            <a:r>
              <a:rPr lang="ru-RU" dirty="0"/>
              <a:t>как </a:t>
            </a:r>
            <a:r>
              <a:rPr lang="en-US" dirty="0"/>
              <a:t>false.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3262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70808" y="340513"/>
            <a:ext cx="112000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Ложное выражение, как ожидается, пропустит элемент после &amp;&amp;, но при этом выведет результат этого выражения. В примере ниже метод </a:t>
            </a:r>
            <a:r>
              <a:rPr lang="ru-RU" dirty="0" err="1"/>
              <a:t>render</a:t>
            </a:r>
            <a:r>
              <a:rPr lang="ru-RU" dirty="0"/>
              <a:t> вернёт &lt;</a:t>
            </a:r>
            <a:r>
              <a:rPr lang="ru-RU" dirty="0" err="1"/>
              <a:t>div</a:t>
            </a:r>
            <a:r>
              <a:rPr lang="ru-RU" dirty="0"/>
              <a:t>&gt;0&lt;/</a:t>
            </a:r>
            <a:r>
              <a:rPr lang="ru-RU" dirty="0" err="1"/>
              <a:t>div</a:t>
            </a:r>
            <a:r>
              <a:rPr lang="ru-RU" dirty="0"/>
              <a:t>&gt;.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07" y="1108773"/>
            <a:ext cx="7751173" cy="2897962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8804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20684" y="429137"/>
            <a:ext cx="109007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-apple-system"/>
              </a:rPr>
              <a:t>Встроенные условия </a:t>
            </a:r>
            <a:r>
              <a:rPr lang="ru-RU" dirty="0" err="1">
                <a:solidFill>
                  <a:srgbClr val="000000"/>
                </a:solidFill>
                <a:latin typeface="-apple-system"/>
              </a:rPr>
              <a:t>if-else</a:t>
            </a:r>
            <a:r>
              <a:rPr lang="ru-RU" dirty="0">
                <a:solidFill>
                  <a:srgbClr val="000000"/>
                </a:solidFill>
                <a:latin typeface="-apple-system"/>
              </a:rPr>
              <a:t> с тернарным оператором</a:t>
            </a:r>
            <a:endParaRPr lang="ru-RU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0684" y="950021"/>
            <a:ext cx="23407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condition ? true : false.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59" y="1470904"/>
            <a:ext cx="10113163" cy="3051219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0969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54180" y="445762"/>
            <a:ext cx="110836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Можно использовать и с выражениями покрупнее, но это может сделать код менее очевидным: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0" y="1047851"/>
            <a:ext cx="8323813" cy="3956930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9875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73081" y="384756"/>
            <a:ext cx="86541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Предотвращение рендеринга компонента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73081" y="754088"/>
            <a:ext cx="113344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Например, будет ли содержимое &lt;</a:t>
            </a:r>
            <a:r>
              <a:rPr lang="ru-RU" dirty="0" err="1"/>
              <a:t>WarningBanner</a:t>
            </a:r>
            <a:r>
              <a:rPr lang="ru-RU" dirty="0"/>
              <a:t> /&gt; </a:t>
            </a:r>
            <a:r>
              <a:rPr lang="ru-RU" dirty="0" err="1"/>
              <a:t>отрендерено</a:t>
            </a:r>
            <a:r>
              <a:rPr lang="ru-RU" dirty="0"/>
              <a:t>, зависит от значения </a:t>
            </a:r>
            <a:r>
              <a:rPr lang="ru-RU" dirty="0" err="1"/>
              <a:t>пропа</a:t>
            </a:r>
            <a:r>
              <a:rPr lang="ru-RU" dirty="0"/>
              <a:t> под именем </a:t>
            </a:r>
            <a:r>
              <a:rPr lang="ru-RU" dirty="0" err="1"/>
              <a:t>warn</a:t>
            </a:r>
            <a:r>
              <a:rPr lang="ru-RU" dirty="0"/>
              <a:t>. Если значение </a:t>
            </a:r>
            <a:r>
              <a:rPr lang="ru-RU" dirty="0" err="1"/>
              <a:t>false</a:t>
            </a:r>
            <a:r>
              <a:rPr lang="ru-RU" dirty="0"/>
              <a:t>, компонент ничего не </a:t>
            </a:r>
            <a:r>
              <a:rPr lang="ru-RU" dirty="0" err="1"/>
              <a:t>рендерит</a:t>
            </a:r>
            <a:r>
              <a:rPr lang="ru-RU" dirty="0"/>
              <a:t>: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58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CC7AB30-270E-4436-876F-016AB3D0D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99" y="1558046"/>
            <a:ext cx="11544540" cy="383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029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59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77A528-7D58-45DB-9D15-B6DB74C2C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84" y="151488"/>
            <a:ext cx="11478770" cy="656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7910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87708" y="434632"/>
            <a:ext cx="1739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Списки и ключи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60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773179-0EDE-48E9-97C8-4E04E945B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49" y="989709"/>
            <a:ext cx="7410665" cy="14356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4D1657-0C29-4BFA-9255-571543ACDB52}"/>
              </a:ext>
            </a:extLst>
          </p:cNvPr>
          <p:cNvSpPr txBox="1"/>
          <p:nvPr/>
        </p:nvSpPr>
        <p:spPr>
          <a:xfrm>
            <a:off x="476907" y="2913258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Отрисовка несколько компонентов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ACB887C-D627-4DF7-BC20-F231E8FEB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39" y="3560588"/>
            <a:ext cx="6093372" cy="194812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40805E4-393E-4E39-9CB3-02713C3DA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953" y="3575410"/>
            <a:ext cx="5591578" cy="181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0111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61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01107B-C42C-4CA1-990C-AB0910C052A5}"/>
              </a:ext>
            </a:extLst>
          </p:cNvPr>
          <p:cNvSpPr txBox="1"/>
          <p:nvPr/>
        </p:nvSpPr>
        <p:spPr>
          <a:xfrm>
            <a:off x="571500" y="296182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Простой компонент списка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2BAFDCA-362B-43FF-8C07-E264A4FB8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9" y="812809"/>
            <a:ext cx="6381093" cy="565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219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62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0517B-BF86-48A8-AFC0-5E9DFEF6246B}"/>
              </a:ext>
            </a:extLst>
          </p:cNvPr>
          <p:cNvSpPr txBox="1"/>
          <p:nvPr/>
        </p:nvSpPr>
        <p:spPr>
          <a:xfrm>
            <a:off x="476907" y="331104"/>
            <a:ext cx="11441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Назначим значение для атрибута </a:t>
            </a:r>
            <a:r>
              <a:rPr lang="ru-RU" dirty="0" err="1"/>
              <a:t>key</a:t>
            </a:r>
            <a:r>
              <a:rPr lang="ru-RU" dirty="0"/>
              <a:t> элементам списка внутри </a:t>
            </a:r>
            <a:r>
              <a:rPr lang="ru-RU" dirty="0" err="1"/>
              <a:t>numbers.map</a:t>
            </a:r>
            <a:r>
              <a:rPr lang="ru-RU" dirty="0"/>
              <a:t>()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95496B-A4C1-4761-A01E-049E2D013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07" y="700436"/>
            <a:ext cx="6396859" cy="60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6062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63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C684D1-847E-4AB3-84F6-A16B29CF46FA}"/>
              </a:ext>
            </a:extLst>
          </p:cNvPr>
          <p:cNvSpPr txBox="1"/>
          <p:nvPr/>
        </p:nvSpPr>
        <p:spPr>
          <a:xfrm>
            <a:off x="618796" y="390775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Ключи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751B72-F452-40C0-97B9-86B03AC40C07}"/>
              </a:ext>
            </a:extLst>
          </p:cNvPr>
          <p:cNvSpPr txBox="1"/>
          <p:nvPr/>
        </p:nvSpPr>
        <p:spPr>
          <a:xfrm>
            <a:off x="618796" y="870521"/>
            <a:ext cx="112368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Ключи должны быть заданы элементам внутри массива, чтобы предоставить элементам постоянный идентификатор: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48105BF-642E-43BE-994F-AE360FBA4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93" y="1612845"/>
            <a:ext cx="6119107" cy="225669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9F1E37D-56ED-4DD2-B872-8A4A70BF8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93" y="4210533"/>
            <a:ext cx="5973275" cy="209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2030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64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BACD57-93C0-404E-9ABF-1052C0494974}"/>
              </a:ext>
            </a:extLst>
          </p:cNvPr>
          <p:cNvSpPr txBox="1"/>
          <p:nvPr/>
        </p:nvSpPr>
        <p:spPr>
          <a:xfrm>
            <a:off x="398078" y="346869"/>
            <a:ext cx="11362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крайнем случае можно использовать индекс элемента в качестве ключа: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EA0FDF-EC4A-4FFD-88CF-F02A0D007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78" y="921298"/>
            <a:ext cx="9606008" cy="250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586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65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E5D6A-CAF2-4F0A-BB41-A0FDF098114B}"/>
              </a:ext>
            </a:extLst>
          </p:cNvPr>
          <p:cNvSpPr txBox="1"/>
          <p:nvPr/>
        </p:nvSpPr>
        <p:spPr>
          <a:xfrm>
            <a:off x="508438" y="343478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Выделение компонентов с ключами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28A6A3-A698-4DD6-9FCE-FBFC57B5C6E5}"/>
              </a:ext>
            </a:extLst>
          </p:cNvPr>
          <p:cNvSpPr txBox="1"/>
          <p:nvPr/>
        </p:nvSpPr>
        <p:spPr>
          <a:xfrm>
            <a:off x="508438" y="712810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Пример: неправильное назначение ключа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F28F601-1B0A-4577-A84D-B78CC84336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634"/>
          <a:stretch/>
        </p:blipFill>
        <p:spPr>
          <a:xfrm>
            <a:off x="508438" y="1287408"/>
            <a:ext cx="7595038" cy="386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24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66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32298E-86DC-452A-A612-DA2A57386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47" y="339572"/>
            <a:ext cx="7248856" cy="452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868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67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5AA367-62E3-4190-8309-9CEDC3A4F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89" y="534790"/>
            <a:ext cx="5958636" cy="219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0244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68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AB16B-89BA-4164-BBE6-5DDB1A7672C4}"/>
              </a:ext>
            </a:extLst>
          </p:cNvPr>
          <p:cNvSpPr txBox="1"/>
          <p:nvPr/>
        </p:nvSpPr>
        <p:spPr>
          <a:xfrm>
            <a:off x="461141" y="422305"/>
            <a:ext cx="25343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Пример: Корректное использование ключа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DE08B6-307E-4D50-B57F-EFD2D85F5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597" y="171204"/>
            <a:ext cx="7672443" cy="651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700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69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670E7B-0E51-4077-8F73-5BF9F751C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51" y="534790"/>
            <a:ext cx="5933568" cy="212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4654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70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6798D-6030-4739-89B7-8BF2E5E6DE5E}"/>
              </a:ext>
            </a:extLst>
          </p:cNvPr>
          <p:cNvSpPr txBox="1"/>
          <p:nvPr/>
        </p:nvSpPr>
        <p:spPr>
          <a:xfrm>
            <a:off x="429610" y="378401"/>
            <a:ext cx="10622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Ключи должны быть уникальными только в пределах элементов одного уровня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E612B6-00CA-4A76-BD64-03C21B607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10" y="747733"/>
            <a:ext cx="6381093" cy="603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1604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71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741B45-FA7B-47D9-A2CA-F44D7D5DA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25" y="201513"/>
            <a:ext cx="9273209" cy="645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376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72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16C3B-1461-4F21-8426-2C6B7C13B2AD}"/>
              </a:ext>
            </a:extLst>
          </p:cNvPr>
          <p:cNvSpPr txBox="1"/>
          <p:nvPr/>
        </p:nvSpPr>
        <p:spPr>
          <a:xfrm>
            <a:off x="508438" y="409932"/>
            <a:ext cx="10984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Компонент </a:t>
            </a:r>
            <a:r>
              <a:rPr lang="ru-RU" dirty="0" err="1"/>
              <a:t>Post</a:t>
            </a:r>
            <a:r>
              <a:rPr lang="ru-RU" dirty="0"/>
              <a:t> может получить значение props.id, но не </a:t>
            </a:r>
            <a:r>
              <a:rPr lang="ru-RU" dirty="0" err="1"/>
              <a:t>props.key</a:t>
            </a:r>
            <a:r>
              <a:rPr lang="ru-RU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90ECC3-B905-4D55-96F1-4D81D82FF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29" y="881740"/>
            <a:ext cx="5746440" cy="248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889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73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44A97-33FA-420E-8EA9-E24A78AE5E58}"/>
              </a:ext>
            </a:extLst>
          </p:cNvPr>
          <p:cNvSpPr txBox="1"/>
          <p:nvPr/>
        </p:nvSpPr>
        <p:spPr>
          <a:xfrm>
            <a:off x="508438" y="327713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Встраивание </a:t>
            </a:r>
            <a:r>
              <a:rPr lang="en-US" dirty="0"/>
              <a:t>map() </a:t>
            </a:r>
            <a:r>
              <a:rPr lang="ru-RU" dirty="0"/>
              <a:t>в </a:t>
            </a:r>
            <a:r>
              <a:rPr lang="en-US" dirty="0"/>
              <a:t>JSX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C397D1-E8B2-4D0A-95A5-ACEDDD65C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998" y="327713"/>
            <a:ext cx="7518016" cy="586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664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74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E1B14-8910-4705-819D-D11CFB3B2650}"/>
              </a:ext>
            </a:extLst>
          </p:cNvPr>
          <p:cNvSpPr txBox="1"/>
          <p:nvPr/>
        </p:nvSpPr>
        <p:spPr>
          <a:xfrm>
            <a:off x="413845" y="397555"/>
            <a:ext cx="11236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JSX позволяет встраивать любое выражение в фигурных скобках, поэтому мы могли встроить результат вызова </a:t>
            </a:r>
            <a:r>
              <a:rPr lang="ru-RU" dirty="0" err="1"/>
              <a:t>map</a:t>
            </a:r>
            <a:r>
              <a:rPr lang="ru-RU" dirty="0"/>
              <a:t>():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26ED8B-F53A-41F5-A2D8-6635941B6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45" y="1236396"/>
            <a:ext cx="6176141" cy="465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4887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75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36F6CF-4849-4B72-BDA4-0D2327C75697}"/>
              </a:ext>
            </a:extLst>
          </p:cNvPr>
          <p:cNvSpPr txBox="1"/>
          <p:nvPr/>
        </p:nvSpPr>
        <p:spPr>
          <a:xfrm>
            <a:off x="5563914" y="406540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Формы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C7ACAB-7A83-433D-873E-05CFCD8211DB}"/>
              </a:ext>
            </a:extLst>
          </p:cNvPr>
          <p:cNvSpPr txBox="1"/>
          <p:nvPr/>
        </p:nvSpPr>
        <p:spPr>
          <a:xfrm>
            <a:off x="871044" y="775872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Эта форма в обычном HTML принимает только имя: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D0FAF9-D0EE-4592-8F21-A8B6C9102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44" y="1401694"/>
            <a:ext cx="7169370" cy="295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43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76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4C128-34D0-47BC-A16D-2D522AD1C74E}"/>
              </a:ext>
            </a:extLst>
          </p:cNvPr>
          <p:cNvSpPr txBox="1"/>
          <p:nvPr/>
        </p:nvSpPr>
        <p:spPr>
          <a:xfrm>
            <a:off x="555735" y="375010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Контролируемые компоненты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273484-01B1-4558-87BF-B2DE247D9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62" y="744342"/>
            <a:ext cx="9907115" cy="584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324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77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DC94B5-57F4-46E5-B696-22595A82B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24" y="196984"/>
            <a:ext cx="10159101" cy="642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7259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78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AFD8C-888F-4BF2-A300-CD0AF59195B4}"/>
              </a:ext>
            </a:extLst>
          </p:cNvPr>
          <p:cNvSpPr txBox="1"/>
          <p:nvPr/>
        </p:nvSpPr>
        <p:spPr>
          <a:xfrm>
            <a:off x="429610" y="346869"/>
            <a:ext cx="11205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контролируемом компоненте каждое изменение состояния будет связано с функцией-обработчиком.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9BAD2D-3110-44C3-B326-D9A6AB1DC0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363"/>
          <a:stretch/>
        </p:blipFill>
        <p:spPr>
          <a:xfrm>
            <a:off x="429610" y="1050587"/>
            <a:ext cx="10994747" cy="497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093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79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E94A3-26BC-4924-BFC8-4A88F18C9034}"/>
              </a:ext>
            </a:extLst>
          </p:cNvPr>
          <p:cNvSpPr txBox="1"/>
          <p:nvPr/>
        </p:nvSpPr>
        <p:spPr>
          <a:xfrm>
            <a:off x="445375" y="315338"/>
            <a:ext cx="10685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HTML элемент &lt;</a:t>
            </a:r>
            <a:r>
              <a:rPr lang="ru-RU" dirty="0" err="1"/>
              <a:t>textarea</a:t>
            </a:r>
            <a:r>
              <a:rPr lang="ru-RU" dirty="0"/>
              <a:t>&gt; определяет свой текст по дочерним элементам: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4656DF-15AF-44CB-A877-C5A12B5E1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74" y="764643"/>
            <a:ext cx="8646387" cy="131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9940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80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C66B4F-39A4-4A54-A23F-CB7B55237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02" y="161925"/>
            <a:ext cx="11313279" cy="604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3318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81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DB9557F-6332-42B8-9473-36EA7FDE9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03" y="306421"/>
            <a:ext cx="11478620" cy="486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84612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82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9872B-20C9-4455-B860-9690C63F718F}"/>
              </a:ext>
            </a:extLst>
          </p:cNvPr>
          <p:cNvSpPr txBox="1"/>
          <p:nvPr/>
        </p:nvSpPr>
        <p:spPr>
          <a:xfrm>
            <a:off x="524203" y="359244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HTML &lt;</a:t>
            </a:r>
            <a:r>
              <a:rPr lang="ru-RU" dirty="0" err="1"/>
              <a:t>select</a:t>
            </a:r>
            <a:r>
              <a:rPr lang="ru-RU" dirty="0"/>
              <a:t>&gt; создаёт выпадающий список.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B2F6E16-E7A8-4876-A85D-B94019EF2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02" y="904107"/>
            <a:ext cx="7589887" cy="25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86825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83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15A638-9135-41F0-BFCF-ABAA96B35FB5}"/>
              </a:ext>
            </a:extLst>
          </p:cNvPr>
          <p:cNvSpPr txBox="1"/>
          <p:nvPr/>
        </p:nvSpPr>
        <p:spPr>
          <a:xfrm>
            <a:off x="429610" y="394166"/>
            <a:ext cx="11378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React </a:t>
            </a:r>
            <a:r>
              <a:rPr lang="ru-RU" dirty="0"/>
              <a:t>вместо атрибута </a:t>
            </a:r>
            <a:r>
              <a:rPr lang="en-US" dirty="0"/>
              <a:t>selected </a:t>
            </a:r>
            <a:r>
              <a:rPr lang="ru-RU" dirty="0"/>
              <a:t>использует атрибут </a:t>
            </a:r>
            <a:r>
              <a:rPr lang="en-US" dirty="0"/>
              <a:t>value </a:t>
            </a:r>
            <a:r>
              <a:rPr lang="ru-RU" dirty="0"/>
              <a:t>в корневом теге </a:t>
            </a:r>
            <a:r>
              <a:rPr lang="en-US" dirty="0"/>
              <a:t>select.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9CE8D8-A209-49D1-A5E6-575A1C39F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10" y="833538"/>
            <a:ext cx="10377831" cy="552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43924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84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21AF60-6926-4742-B410-E75F4F844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95" y="257985"/>
            <a:ext cx="10622527" cy="629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3995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85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BEAFB-7733-4A55-94CB-27C10519FE92}"/>
              </a:ext>
            </a:extLst>
          </p:cNvPr>
          <p:cNvSpPr txBox="1"/>
          <p:nvPr/>
        </p:nvSpPr>
        <p:spPr>
          <a:xfrm>
            <a:off x="366548" y="362635"/>
            <a:ext cx="11457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Можно передать массив в атрибут </a:t>
            </a:r>
            <a:r>
              <a:rPr lang="ru-RU" dirty="0" err="1"/>
              <a:t>value</a:t>
            </a:r>
            <a:r>
              <a:rPr lang="ru-RU" dirty="0"/>
              <a:t>, что позволяет вам выбрать несколько пунктов в теге </a:t>
            </a:r>
            <a:r>
              <a:rPr lang="ru-RU" dirty="0" err="1"/>
              <a:t>select</a:t>
            </a:r>
            <a:r>
              <a:rPr lang="ru-RU" dirty="0"/>
              <a:t>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BA03F1A-A8C0-4F0E-B393-DF51D2D88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09" y="980381"/>
            <a:ext cx="6218828" cy="7380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A4F284-D0CA-4C3A-B4A2-903A05383C32}"/>
              </a:ext>
            </a:extLst>
          </p:cNvPr>
          <p:cNvSpPr txBox="1"/>
          <p:nvPr/>
        </p:nvSpPr>
        <p:spPr>
          <a:xfrm>
            <a:off x="366548" y="1966854"/>
            <a:ext cx="11457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HTML элемент &lt;</a:t>
            </a:r>
            <a:r>
              <a:rPr lang="ru-RU" dirty="0" err="1"/>
              <a:t>input</a:t>
            </a:r>
            <a:r>
              <a:rPr lang="ru-RU" dirty="0"/>
              <a:t> </a:t>
            </a:r>
            <a:r>
              <a:rPr lang="ru-RU" dirty="0" err="1"/>
              <a:t>type</a:t>
            </a:r>
            <a:r>
              <a:rPr lang="ru-RU" dirty="0"/>
              <a:t>="</a:t>
            </a:r>
            <a:r>
              <a:rPr lang="ru-RU" dirty="0" err="1"/>
              <a:t>file</a:t>
            </a:r>
            <a:r>
              <a:rPr lang="ru-RU" dirty="0"/>
              <a:t>"&gt; позволяет пользователю выбрать один или несколько файлов из устройства хранения для загрузки на сервер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0667DE-FD3C-41B9-B7BF-C53C218F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09" y="2696116"/>
            <a:ext cx="4168096" cy="88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1007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86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2E303F-17C3-42B0-99D9-956A1A29ABA4}"/>
              </a:ext>
            </a:extLst>
          </p:cNvPr>
          <p:cNvSpPr txBox="1"/>
          <p:nvPr/>
        </p:nvSpPr>
        <p:spPr>
          <a:xfrm>
            <a:off x="429610" y="359245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Обработка нескольких полей ввода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251DC23-A063-42D3-A5BB-FBDC51D2C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11" y="728577"/>
            <a:ext cx="11253153" cy="577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5647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87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53470C-707F-4316-B3A8-5C1D2A520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18" y="123418"/>
            <a:ext cx="6056481" cy="654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50539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92853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9860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9199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91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63ED7-CB75-4E4C-A24E-40437000FFAE}"/>
              </a:ext>
            </a:extLst>
          </p:cNvPr>
          <p:cNvSpPr txBox="1"/>
          <p:nvPr/>
        </p:nvSpPr>
        <p:spPr>
          <a:xfrm>
            <a:off x="429610" y="406541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Значение </a:t>
            </a:r>
            <a:r>
              <a:rPr lang="ru-RU" dirty="0" err="1"/>
              <a:t>null</a:t>
            </a:r>
            <a:r>
              <a:rPr lang="ru-RU" dirty="0"/>
              <a:t> в контролируемом компоненте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28D6634-F7D8-4352-A571-6F79DBE80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56" y="960459"/>
            <a:ext cx="8644454" cy="21611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32C1C2-F342-4608-AAE5-61331487A519}"/>
              </a:ext>
            </a:extLst>
          </p:cNvPr>
          <p:cNvSpPr txBox="1"/>
          <p:nvPr/>
        </p:nvSpPr>
        <p:spPr>
          <a:xfrm>
            <a:off x="557356" y="3707909"/>
            <a:ext cx="609437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/>
              <a:t>Formik</a:t>
            </a:r>
            <a:r>
              <a:rPr lang="en-US" sz="3200" dirty="0"/>
              <a:t>,</a:t>
            </a:r>
            <a:br>
              <a:rPr lang="en-US" sz="3200" dirty="0"/>
            </a:br>
            <a:r>
              <a:rPr lang="en-US" sz="3200" dirty="0"/>
              <a:t>React Hook Form,</a:t>
            </a:r>
            <a:br>
              <a:rPr lang="en-US" sz="3200" dirty="0"/>
            </a:br>
            <a:r>
              <a:rPr lang="en-US" sz="3200" dirty="0"/>
              <a:t>Yup,</a:t>
            </a:r>
            <a:br>
              <a:rPr lang="en-US" sz="3200" dirty="0"/>
            </a:br>
            <a:r>
              <a:rPr lang="en-US" sz="3200" dirty="0" err="1"/>
              <a:t>Zod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905766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92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AAABDF-96DD-414B-9C7A-C0B4D644073C}"/>
              </a:ext>
            </a:extLst>
          </p:cNvPr>
          <p:cNvSpPr txBox="1"/>
          <p:nvPr/>
        </p:nvSpPr>
        <p:spPr>
          <a:xfrm>
            <a:off x="4985845" y="406541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Подъём состояния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B924B-0F2A-4066-9772-66F910D89478}"/>
              </a:ext>
            </a:extLst>
          </p:cNvPr>
          <p:cNvSpPr txBox="1"/>
          <p:nvPr/>
        </p:nvSpPr>
        <p:spPr>
          <a:xfrm>
            <a:off x="539969" y="965114"/>
            <a:ext cx="111895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BoilingVerdict</a:t>
            </a:r>
            <a:r>
              <a:rPr lang="ru-RU" dirty="0"/>
              <a:t> принимает температуру по шкале Цельсия в качестве свойства и выводит, достаточно ли подходит температура для кипячения воды: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C14F9E1-18C4-4F9F-B5C0-35F2233F0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68" y="1800686"/>
            <a:ext cx="5557735" cy="253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608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54616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94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DB419B-F735-4232-B4D5-6BE13BC357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62" b="8683"/>
          <a:stretch/>
        </p:blipFill>
        <p:spPr>
          <a:xfrm>
            <a:off x="322634" y="204281"/>
            <a:ext cx="8782455" cy="658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1141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95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9183D5-DF36-4C09-B166-55972AB822F3}"/>
              </a:ext>
            </a:extLst>
          </p:cNvPr>
          <p:cNvSpPr txBox="1"/>
          <p:nvPr/>
        </p:nvSpPr>
        <p:spPr>
          <a:xfrm>
            <a:off x="571500" y="327713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Добавление второго поля ввода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64D861-0A43-4F70-B032-D5C8F9CD5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846306"/>
            <a:ext cx="7953376" cy="293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0619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96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BA25BA-E391-4C79-BD41-FB17E745B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91" y="212185"/>
            <a:ext cx="10920734" cy="622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40105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97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83850C-3C56-48A5-9A85-D04B40E994C5}"/>
              </a:ext>
            </a:extLst>
          </p:cNvPr>
          <p:cNvSpPr txBox="1"/>
          <p:nvPr/>
        </p:nvSpPr>
        <p:spPr>
          <a:xfrm>
            <a:off x="350782" y="457228"/>
            <a:ext cx="11347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Теперь мы можем изменить </a:t>
            </a:r>
            <a:r>
              <a:rPr lang="ru-RU" dirty="0" err="1"/>
              <a:t>Calculator</a:t>
            </a:r>
            <a:r>
              <a:rPr lang="ru-RU" dirty="0"/>
              <a:t>, чтобы отрисовать два отдельных поля ввода температуры: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62AE4B-5D69-4425-8C1F-5CBDF3D48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7" y="935375"/>
            <a:ext cx="10788277" cy="542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68720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98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6A228-A142-4E7E-BD5E-5B5513A4CAF4}"/>
              </a:ext>
            </a:extLst>
          </p:cNvPr>
          <p:cNvSpPr txBox="1"/>
          <p:nvPr/>
        </p:nvSpPr>
        <p:spPr>
          <a:xfrm>
            <a:off x="555734" y="438072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Написание функций для конвертации температур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2A974E-7A2B-44D4-BD36-175391968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34" y="1046803"/>
            <a:ext cx="5908128" cy="31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76437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99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5F13B-5146-44B8-9958-2443BFB36A7F}"/>
              </a:ext>
            </a:extLst>
          </p:cNvPr>
          <p:cNvSpPr txBox="1"/>
          <p:nvPr/>
        </p:nvSpPr>
        <p:spPr>
          <a:xfrm>
            <a:off x="445376" y="350259"/>
            <a:ext cx="11315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Функция возвращает пустую строку при некорректном значении аргумента </a:t>
            </a:r>
            <a:r>
              <a:rPr lang="ru-RU" dirty="0" err="1"/>
              <a:t>temperature</a:t>
            </a:r>
            <a:r>
              <a:rPr lang="ru-RU" dirty="0"/>
              <a:t>, и округляет возвращаемое значение до трёх чисел после запятой: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8C84B0-500A-46B4-A6FC-ABF9A6241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75" y="1180785"/>
            <a:ext cx="8745921" cy="400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4717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100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3F2202-4E95-44A4-BF03-7672E0458276}"/>
              </a:ext>
            </a:extLst>
          </p:cNvPr>
          <p:cNvSpPr txBox="1"/>
          <p:nvPr/>
        </p:nvSpPr>
        <p:spPr>
          <a:xfrm>
            <a:off x="603031" y="327713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Поднятие состояния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318A66-75EB-497E-9ADE-2F40790CE18D}"/>
              </a:ext>
            </a:extLst>
          </p:cNvPr>
          <p:cNvSpPr txBox="1"/>
          <p:nvPr/>
        </p:nvSpPr>
        <p:spPr>
          <a:xfrm>
            <a:off x="603031" y="741002"/>
            <a:ext cx="11252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Оба компонента </a:t>
            </a:r>
            <a:r>
              <a:rPr lang="ru-RU" dirty="0" err="1"/>
              <a:t>TemperatureInput</a:t>
            </a:r>
            <a:r>
              <a:rPr lang="ru-RU" dirty="0"/>
              <a:t> независимо хранят свои значения в локальном состоянии: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1EAA154-3084-4E0F-B0DD-EB15331F4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30" y="1154291"/>
            <a:ext cx="8472875" cy="558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5901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101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E3F23-A200-4D8A-AAA7-9444522C71F2}"/>
              </a:ext>
            </a:extLst>
          </p:cNvPr>
          <p:cNvSpPr txBox="1"/>
          <p:nvPr/>
        </p:nvSpPr>
        <p:spPr>
          <a:xfrm>
            <a:off x="382313" y="268042"/>
            <a:ext cx="11094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Допустим, что </a:t>
            </a:r>
            <a:r>
              <a:rPr lang="ru-RU" dirty="0" err="1"/>
              <a:t>this.props.temperature</a:t>
            </a:r>
            <a:r>
              <a:rPr lang="ru-RU" dirty="0"/>
              <a:t> уже существует, хотя надо будет передать его из </a:t>
            </a:r>
            <a:r>
              <a:rPr lang="ru-RU" dirty="0" err="1"/>
              <a:t>Calculator</a:t>
            </a:r>
            <a:r>
              <a:rPr lang="ru-RU" dirty="0"/>
              <a:t> в будущем: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140C70-5487-418B-A27B-526997C55D94}"/>
              </a:ext>
            </a:extLst>
          </p:cNvPr>
          <p:cNvSpPr txBox="1"/>
          <p:nvPr/>
        </p:nvSpPr>
        <p:spPr>
          <a:xfrm>
            <a:off x="382313" y="2970552"/>
            <a:ext cx="11457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Теперь, когда </a:t>
            </a:r>
            <a:r>
              <a:rPr lang="en-US" dirty="0" err="1"/>
              <a:t>TemperatureInput</a:t>
            </a:r>
            <a:r>
              <a:rPr lang="en-US" dirty="0"/>
              <a:t> </a:t>
            </a:r>
            <a:r>
              <a:rPr lang="ru-RU" dirty="0"/>
              <a:t>хочет обновить свою температуру, он вызывает </a:t>
            </a:r>
            <a:r>
              <a:rPr lang="en-US" dirty="0" err="1"/>
              <a:t>this.props.onTemperatureChange</a:t>
            </a:r>
            <a:r>
              <a:rPr lang="en-US" dirty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21332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102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3DF54-C497-4AAA-A06C-5515D1329EA7}"/>
              </a:ext>
            </a:extLst>
          </p:cNvPr>
          <p:cNvSpPr txBox="1"/>
          <p:nvPr/>
        </p:nvSpPr>
        <p:spPr>
          <a:xfrm>
            <a:off x="287720" y="227526"/>
            <a:ext cx="11615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Вместо вызова </a:t>
            </a:r>
            <a:r>
              <a:rPr lang="en-US" dirty="0" err="1"/>
              <a:t>this.setState</a:t>
            </a:r>
            <a:r>
              <a:rPr lang="en-US" dirty="0"/>
              <a:t>(), </a:t>
            </a:r>
            <a:r>
              <a:rPr lang="ru-RU" dirty="0"/>
              <a:t>когда надо внести изменения, теперь вызываем </a:t>
            </a:r>
            <a:r>
              <a:rPr lang="en-US" dirty="0" err="1"/>
              <a:t>this.props.onTemperatureChange</a:t>
            </a:r>
            <a:r>
              <a:rPr lang="en-US" dirty="0"/>
              <a:t>(), </a:t>
            </a:r>
            <a:r>
              <a:rPr lang="ru-RU" dirty="0"/>
              <a:t>который передаётся компонентом </a:t>
            </a:r>
            <a:r>
              <a:rPr lang="en-US" dirty="0"/>
              <a:t>Calculator: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2D8E37-F895-4FEC-B9EA-02E15719C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31" y="1014918"/>
            <a:ext cx="11074760" cy="534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4797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10713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104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2FFD5-5758-4C51-9769-7EE7F77C7961}"/>
              </a:ext>
            </a:extLst>
          </p:cNvPr>
          <p:cNvSpPr txBox="1"/>
          <p:nvPr/>
        </p:nvSpPr>
        <p:spPr>
          <a:xfrm>
            <a:off x="413844" y="255666"/>
            <a:ext cx="113314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 ввести 37 как значение поля ввода для температуры по шкале Цельсия, состояние компонента </a:t>
            </a:r>
            <a:r>
              <a:rPr lang="ru-RU" dirty="0" err="1"/>
              <a:t>Calculator</a:t>
            </a:r>
            <a:r>
              <a:rPr lang="ru-RU" dirty="0"/>
              <a:t> будет: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E5E3A0-1171-4C67-83AA-AA04D23AA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28" y="1162795"/>
            <a:ext cx="3665800" cy="18409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AD8C74-7FAD-4C95-8062-48167E13DBA3}"/>
              </a:ext>
            </a:extLst>
          </p:cNvPr>
          <p:cNvSpPr txBox="1"/>
          <p:nvPr/>
        </p:nvSpPr>
        <p:spPr>
          <a:xfrm>
            <a:off x="413844" y="3223765"/>
            <a:ext cx="11331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 позднее изменим поле для ввода градусов по шкале Фаренгейта на 212, состояние </a:t>
            </a:r>
            <a:r>
              <a:rPr lang="ru-RU" dirty="0" err="1"/>
              <a:t>Calculator</a:t>
            </a:r>
            <a:r>
              <a:rPr lang="ru-RU" dirty="0"/>
              <a:t> будет: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4E12700-E7C6-4ECD-AAAD-8F28ECEAE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07" y="3593097"/>
            <a:ext cx="3686821" cy="186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2348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105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56642-CD8E-4E99-8828-9412A5C88F41}"/>
              </a:ext>
            </a:extLst>
          </p:cNvPr>
          <p:cNvSpPr txBox="1"/>
          <p:nvPr/>
        </p:nvSpPr>
        <p:spPr>
          <a:xfrm>
            <a:off x="303486" y="236511"/>
            <a:ext cx="11504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Поля вводов остаются в синхронизации, поскольку их значения вычисляются из одного и того же состояния: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0635A3-9062-47C9-812A-E93D1E8CB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85" y="605843"/>
            <a:ext cx="11606223" cy="563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015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106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042462-0531-4964-8879-C939BF903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12" y="240050"/>
            <a:ext cx="10891320" cy="587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1834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9359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108</a:t>
            </a:fld>
            <a:endParaRPr lang="ru-RU"/>
          </a:p>
        </p:txBody>
      </p:sp>
      <p:pic>
        <p:nvPicPr>
          <p:cNvPr id="2050" name="Picture 2" descr="Мониторинг состояния в React DevTools">
            <a:extLst>
              <a:ext uri="{FF2B5EF4-FFF2-40B4-BE49-F238E27FC236}">
                <a16:creationId xmlns:a16="http://schemas.microsoft.com/office/drawing/2014/main" id="{9D2BCDB4-484A-48E4-BDF5-515D12C2282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74" y="259474"/>
            <a:ext cx="11363580" cy="5873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87261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109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7C00BB-1F56-40F5-A353-A038CF58ABDB}"/>
              </a:ext>
            </a:extLst>
          </p:cNvPr>
          <p:cNvSpPr txBox="1"/>
          <p:nvPr/>
        </p:nvSpPr>
        <p:spPr>
          <a:xfrm>
            <a:off x="4229100" y="311948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Композиция против наследования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26744F-E8E0-4876-A333-AF0EBE72062C}"/>
              </a:ext>
            </a:extLst>
          </p:cNvPr>
          <p:cNvSpPr txBox="1"/>
          <p:nvPr/>
        </p:nvSpPr>
        <p:spPr>
          <a:xfrm>
            <a:off x="524202" y="819835"/>
            <a:ext cx="10716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Специальный </a:t>
            </a:r>
            <a:r>
              <a:rPr lang="ru-RU" dirty="0" err="1"/>
              <a:t>проп</a:t>
            </a:r>
            <a:r>
              <a:rPr lang="ru-RU" dirty="0"/>
              <a:t> </a:t>
            </a:r>
            <a:r>
              <a:rPr lang="ru-RU" dirty="0" err="1"/>
              <a:t>children</a:t>
            </a:r>
            <a:r>
              <a:rPr lang="ru-RU" dirty="0"/>
              <a:t> передает дочерние элементы сразу на вывод: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81AC454-7BBC-462D-9319-4D6D9351C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02" y="1327722"/>
            <a:ext cx="10414294" cy="318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9327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110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4E2C5-6068-4D5C-BD96-571027EF68AD}"/>
              </a:ext>
            </a:extLst>
          </p:cNvPr>
          <p:cNvSpPr txBox="1"/>
          <p:nvPr/>
        </p:nvSpPr>
        <p:spPr>
          <a:xfrm>
            <a:off x="492672" y="378400"/>
            <a:ext cx="10861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Это позволит передать компоненту произвольные дочерние элементы, вложив их в JSX: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2A17B0-8CBA-48D0-8BD1-418EA17D0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72" y="747732"/>
            <a:ext cx="9486900" cy="561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9071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111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B3E13-1231-4CEE-8983-59AC456872A0}"/>
              </a:ext>
            </a:extLst>
          </p:cNvPr>
          <p:cNvSpPr txBox="1"/>
          <p:nvPr/>
        </p:nvSpPr>
        <p:spPr>
          <a:xfrm>
            <a:off x="366547" y="287197"/>
            <a:ext cx="113629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Иногда в компоненте необходимо иметь несколько мест для вставки. В таком случае можно придумать свой формат, а не использовать </a:t>
            </a:r>
            <a:r>
              <a:rPr lang="ru-RU" dirty="0" err="1"/>
              <a:t>children</a:t>
            </a:r>
            <a:r>
              <a:rPr lang="ru-RU" dirty="0"/>
              <a:t>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A70AF8-8423-41C6-BEE9-C5C591470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47" y="933528"/>
            <a:ext cx="6113081" cy="477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59588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112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8AC10F-F635-4F58-846C-F959CF687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62" y="455699"/>
            <a:ext cx="3570871" cy="456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3195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113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95043-D829-40F9-9363-51DACD66BA1E}"/>
              </a:ext>
            </a:extLst>
          </p:cNvPr>
          <p:cNvSpPr txBox="1"/>
          <p:nvPr/>
        </p:nvSpPr>
        <p:spPr>
          <a:xfrm>
            <a:off x="413845" y="346870"/>
            <a:ext cx="1131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Тут «частный» вариант компонента рендерит более «общий» и настраивает его с помощью пропсов: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C728AA-730E-4E9E-8E52-93FE77A77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44" y="818678"/>
            <a:ext cx="5056789" cy="417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18305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114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384597-742A-4B23-B703-1959B47C1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82" y="586315"/>
            <a:ext cx="10645874" cy="316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9464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115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DF5C5-48F8-42D7-A5DE-8E35192B760B}"/>
              </a:ext>
            </a:extLst>
          </p:cNvPr>
          <p:cNvSpPr txBox="1"/>
          <p:nvPr/>
        </p:nvSpPr>
        <p:spPr>
          <a:xfrm>
            <a:off x="303486" y="378401"/>
            <a:ext cx="11378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Композиция хорошо работает и для компонентов, определённых через классы: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C3F3F5B-4922-47E7-BA78-81CD2CD7F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86" y="877882"/>
            <a:ext cx="5908128" cy="541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90149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116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D2CA8D-F79D-45DB-AF35-D6239919E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66" y="419469"/>
            <a:ext cx="8416509" cy="294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9533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117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21EF3A-D408-43EE-A732-0AB96C2EE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83" y="456785"/>
            <a:ext cx="6931400" cy="449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75661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118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E8932F-856D-458C-BE1C-DA8CEE3C3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66" y="407462"/>
            <a:ext cx="9535637" cy="345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77292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119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DBC328-5D15-4ACE-A84F-FE5E7DE4A12E}"/>
              </a:ext>
            </a:extLst>
          </p:cNvPr>
          <p:cNvSpPr txBox="1"/>
          <p:nvPr/>
        </p:nvSpPr>
        <p:spPr>
          <a:xfrm>
            <a:off x="5379982" y="311948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JSX </a:t>
            </a:r>
            <a:r>
              <a:rPr lang="ru-RU" dirty="0"/>
              <a:t>в деталях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EDC8D-9AE3-434E-A10A-389003A18FF5}"/>
              </a:ext>
            </a:extLst>
          </p:cNvPr>
          <p:cNvSpPr txBox="1"/>
          <p:nvPr/>
        </p:nvSpPr>
        <p:spPr>
          <a:xfrm>
            <a:off x="918342" y="751967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Этот </a:t>
            </a:r>
            <a:r>
              <a:rPr lang="en-US" dirty="0"/>
              <a:t>JSX-</a:t>
            </a:r>
            <a:r>
              <a:rPr lang="ru-RU" dirty="0"/>
              <a:t>код: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217906E-5D2B-4B75-8A16-D238FA698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42" y="1231400"/>
            <a:ext cx="6093372" cy="13790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CC5324-9D5A-486D-AE4F-FEB74A77152F}"/>
              </a:ext>
            </a:extLst>
          </p:cNvPr>
          <p:cNvSpPr txBox="1"/>
          <p:nvPr/>
        </p:nvSpPr>
        <p:spPr>
          <a:xfrm>
            <a:off x="918342" y="2850196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Скомпилируется в: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9EEBCF7-D2CB-41C9-A510-44DE398F6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42" y="3219528"/>
            <a:ext cx="5340568" cy="213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48877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120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EF7F57-BEDA-4362-976C-269B4F5EB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809" y="1272547"/>
            <a:ext cx="5178191" cy="6599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404B40-9A78-4260-9505-26BB19961CC4}"/>
              </a:ext>
            </a:extLst>
          </p:cNvPr>
          <p:cNvSpPr txBox="1"/>
          <p:nvPr/>
        </p:nvSpPr>
        <p:spPr>
          <a:xfrm>
            <a:off x="917810" y="2077685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скомпилируется в: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4206B45-657C-424E-8F6C-A84902D95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08" y="2618756"/>
            <a:ext cx="3979073" cy="179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3310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121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B24FA-EC9C-43BB-8D9A-A46E4080B600}"/>
              </a:ext>
            </a:extLst>
          </p:cNvPr>
          <p:cNvSpPr txBox="1"/>
          <p:nvPr/>
        </p:nvSpPr>
        <p:spPr>
          <a:xfrm>
            <a:off x="287720" y="287197"/>
            <a:ext cx="11583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 примеру, в данном коде оба импорта являются необходимыми, даже если на </a:t>
            </a:r>
            <a:r>
              <a:rPr lang="ru-RU" dirty="0" err="1"/>
              <a:t>React</a:t>
            </a:r>
            <a:r>
              <a:rPr lang="ru-RU" dirty="0"/>
              <a:t> и </a:t>
            </a:r>
            <a:r>
              <a:rPr lang="ru-RU" dirty="0" err="1"/>
              <a:t>CustomButton</a:t>
            </a:r>
            <a:r>
              <a:rPr lang="ru-RU" dirty="0"/>
              <a:t> нет прямых ссылок из </a:t>
            </a:r>
            <a:r>
              <a:rPr lang="ru-RU" dirty="0" err="1"/>
              <a:t>JavaScript</a:t>
            </a:r>
            <a:r>
              <a:rPr lang="ru-RU" dirty="0"/>
              <a:t>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47BB65-4911-45D5-8F7A-FCE8C59A3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20" y="1004350"/>
            <a:ext cx="11104452" cy="309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7958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122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6A401-80D0-4A7C-8F76-B2A4D2DB0244}"/>
              </a:ext>
            </a:extLst>
          </p:cNvPr>
          <p:cNvSpPr txBox="1"/>
          <p:nvPr/>
        </p:nvSpPr>
        <p:spPr>
          <a:xfrm>
            <a:off x="555734" y="375009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Использование записи через точку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BAF972B-1183-40A6-8988-94BE944B2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34" y="855071"/>
            <a:ext cx="11236702" cy="493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0184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123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D2610-54F6-407F-9380-7D2B1B050340}"/>
              </a:ext>
            </a:extLst>
          </p:cNvPr>
          <p:cNvSpPr txBox="1"/>
          <p:nvPr/>
        </p:nvSpPr>
        <p:spPr>
          <a:xfrm>
            <a:off x="476906" y="283808"/>
            <a:ext cx="11221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Названия типов пользовательских компонентов должны начинаться с большой буквы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1E9647-50B0-4E72-B42F-B8B7F8BDC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05" y="653140"/>
            <a:ext cx="11548999" cy="570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6690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124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70D13-7BB5-432C-B835-53A5E16C7E1E}"/>
              </a:ext>
            </a:extLst>
          </p:cNvPr>
          <p:cNvSpPr txBox="1"/>
          <p:nvPr/>
        </p:nvSpPr>
        <p:spPr>
          <a:xfrm>
            <a:off x="461142" y="334493"/>
            <a:ext cx="11158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Для того, чтобы исправить это, переименуем </a:t>
            </a:r>
            <a:r>
              <a:rPr lang="ru-RU" dirty="0" err="1"/>
              <a:t>hello</a:t>
            </a:r>
            <a:r>
              <a:rPr lang="ru-RU" dirty="0"/>
              <a:t> в </a:t>
            </a:r>
            <a:r>
              <a:rPr lang="ru-RU" dirty="0" err="1"/>
              <a:t>Hello</a:t>
            </a:r>
            <a:r>
              <a:rPr lang="ru-RU" dirty="0"/>
              <a:t> и станем использовать &lt;</a:t>
            </a:r>
            <a:r>
              <a:rPr lang="ru-RU" dirty="0" err="1"/>
              <a:t>Hello</a:t>
            </a:r>
            <a:r>
              <a:rPr lang="ru-RU" dirty="0"/>
              <a:t> /&gt;, когда будем ссылаться на него: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A34D18A-B6D1-4C6F-BE27-22DE0B0E8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42" y="980824"/>
            <a:ext cx="10892658" cy="545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5168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125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7384E4-AD85-4C69-ABA5-7626C5C607A5}"/>
              </a:ext>
            </a:extLst>
          </p:cNvPr>
          <p:cNvSpPr txBox="1"/>
          <p:nvPr/>
        </p:nvSpPr>
        <p:spPr>
          <a:xfrm>
            <a:off x="508438" y="453837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Выбор типа во время исполнения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97FA41-8836-4609-BFAD-1CC33D168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7" y="1028120"/>
            <a:ext cx="9881038" cy="516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5822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126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F3DFB0-6AAE-4166-9C02-8F5C0FBAD33B}"/>
              </a:ext>
            </a:extLst>
          </p:cNvPr>
          <p:cNvSpPr txBox="1"/>
          <p:nvPr/>
        </p:nvSpPr>
        <p:spPr>
          <a:xfrm>
            <a:off x="445374" y="362635"/>
            <a:ext cx="10908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Чтобы исправить это,  присвоим тип в переменную, начинающуюся с заглавной буквы: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8FC019-5457-4D40-BD67-9A11E9D40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74" y="731967"/>
            <a:ext cx="11018886" cy="562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2942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127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3AB28-ED55-41E0-BE6E-43EF21C43779}"/>
              </a:ext>
            </a:extLst>
          </p:cNvPr>
          <p:cNvSpPr txBox="1"/>
          <p:nvPr/>
        </p:nvSpPr>
        <p:spPr>
          <a:xfrm>
            <a:off x="603031" y="327713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Пропсы в </a:t>
            </a:r>
            <a:r>
              <a:rPr lang="en-US" dirty="0"/>
              <a:t>JSX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D3717-123E-4257-8E79-13EFB3E1852A}"/>
              </a:ext>
            </a:extLst>
          </p:cNvPr>
          <p:cNvSpPr txBox="1"/>
          <p:nvPr/>
        </p:nvSpPr>
        <p:spPr>
          <a:xfrm>
            <a:off x="603031" y="958334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1. </a:t>
            </a:r>
            <a:r>
              <a:rPr lang="en-US" dirty="0"/>
              <a:t>JavaScript-</a:t>
            </a:r>
            <a:r>
              <a:rPr lang="ru-RU" dirty="0"/>
              <a:t>выражения как пропсы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395DCA-2D59-46ED-ADE8-AD0C673C7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31" y="1406351"/>
            <a:ext cx="5198679" cy="65160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59732FC-598E-493A-996B-2DBEA8127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26" y="2242972"/>
            <a:ext cx="10589057" cy="41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2040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128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31E13-8A07-4C8F-B71C-A5A0B09900F6}"/>
              </a:ext>
            </a:extLst>
          </p:cNvPr>
          <p:cNvSpPr txBox="1"/>
          <p:nvPr/>
        </p:nvSpPr>
        <p:spPr>
          <a:xfrm>
            <a:off x="539969" y="390775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2.Строковые литералы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39E46F-BC09-425F-9465-0D145AE47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69" y="898738"/>
            <a:ext cx="6231612" cy="14503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C41954-B42D-49DB-8B14-1A8902BC5C06}"/>
              </a:ext>
            </a:extLst>
          </p:cNvPr>
          <p:cNvSpPr txBox="1"/>
          <p:nvPr/>
        </p:nvSpPr>
        <p:spPr>
          <a:xfrm>
            <a:off x="539969" y="2787134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Эти два JSX-выражения будут эквивалентны: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094EA6-01DB-44E6-8837-DE9D78990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68" y="3306192"/>
            <a:ext cx="5324803" cy="139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3743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129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997E5-69F2-4420-86A3-3842FE7A40B7}"/>
              </a:ext>
            </a:extLst>
          </p:cNvPr>
          <p:cNvSpPr txBox="1"/>
          <p:nvPr/>
        </p:nvSpPr>
        <p:spPr>
          <a:xfrm>
            <a:off x="587265" y="390776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3. Установка пропсов по умолчанию в «</a:t>
            </a:r>
            <a:r>
              <a:rPr lang="ru-RU" dirty="0" err="1"/>
              <a:t>true</a:t>
            </a:r>
            <a:r>
              <a:rPr lang="ru-RU" dirty="0"/>
              <a:t>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3FB7AFA-E03C-4AD0-B9B4-3B87B9840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65" y="1029625"/>
            <a:ext cx="4838066" cy="13036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9AA1F3-7850-440B-9571-5002BBDB9863}"/>
              </a:ext>
            </a:extLst>
          </p:cNvPr>
          <p:cNvSpPr txBox="1"/>
          <p:nvPr/>
        </p:nvSpPr>
        <p:spPr>
          <a:xfrm>
            <a:off x="587265" y="2662513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4. Атрибуты расширения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9232C65-F86A-489A-962D-41C90AFA4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64" y="3031845"/>
            <a:ext cx="8950873" cy="342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91522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130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6E2343-383F-4668-AD20-442A3150F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62" y="368558"/>
            <a:ext cx="8933548" cy="625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1181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131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3A926-6D8F-4A87-9DCF-7E4270D34EAF}"/>
              </a:ext>
            </a:extLst>
          </p:cNvPr>
          <p:cNvSpPr txBox="1"/>
          <p:nvPr/>
        </p:nvSpPr>
        <p:spPr>
          <a:xfrm>
            <a:off x="650327" y="375010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Дочерние компоненты в </a:t>
            </a:r>
            <a:r>
              <a:rPr lang="en-US" b="1" dirty="0"/>
              <a:t>JSX</a:t>
            </a:r>
            <a:endParaRPr lang="ru-RU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5CF00-0CD6-42D7-96DF-C063DE3B04E8}"/>
              </a:ext>
            </a:extLst>
          </p:cNvPr>
          <p:cNvSpPr txBox="1"/>
          <p:nvPr/>
        </p:nvSpPr>
        <p:spPr>
          <a:xfrm>
            <a:off x="650327" y="895272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Строковые литералы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B44F360-B932-4657-AA3C-D9193DF37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27" y="1415534"/>
            <a:ext cx="6222195" cy="7758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015AED-04F0-427C-83F9-5F6EDEA62655}"/>
              </a:ext>
            </a:extLst>
          </p:cNvPr>
          <p:cNvSpPr txBox="1"/>
          <p:nvPr/>
        </p:nvSpPr>
        <p:spPr>
          <a:xfrm>
            <a:off x="714738" y="2342337"/>
            <a:ext cx="10639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HTML не экранируется, поэтому JSX можно писать так же, как HTML: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3BFD329-03E7-473E-9E2D-C5D06C945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6" y="2834663"/>
            <a:ext cx="8146663" cy="77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2681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132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6A8F76-6174-4AA4-B42B-DED25F00E662}"/>
              </a:ext>
            </a:extLst>
          </p:cNvPr>
          <p:cNvSpPr txBox="1"/>
          <p:nvPr/>
        </p:nvSpPr>
        <p:spPr>
          <a:xfrm>
            <a:off x="476907" y="441463"/>
            <a:ext cx="9991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Следующие три примера кода рендерят одинаковый результат: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5D06BE-663B-498D-A3CD-9F527AD1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52" y="810794"/>
            <a:ext cx="3742837" cy="562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43292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133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872F2-E533-4748-A8BB-E74A067EA8A2}"/>
              </a:ext>
            </a:extLst>
          </p:cNvPr>
          <p:cNvSpPr txBox="1"/>
          <p:nvPr/>
        </p:nvSpPr>
        <p:spPr>
          <a:xfrm>
            <a:off x="587265" y="327713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Дочерние </a:t>
            </a:r>
            <a:r>
              <a:rPr lang="en-US" dirty="0"/>
              <a:t>JSX-</a:t>
            </a:r>
            <a:r>
              <a:rPr lang="ru-RU" dirty="0"/>
              <a:t>компоненты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11C6AC-8FEC-46A1-9F94-6992AB035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64" y="910545"/>
            <a:ext cx="3842845" cy="18261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EBA955-742C-4D07-88D2-EEFCFCD1E168}"/>
              </a:ext>
            </a:extLst>
          </p:cNvPr>
          <p:cNvSpPr txBox="1"/>
          <p:nvPr/>
        </p:nvSpPr>
        <p:spPr>
          <a:xfrm>
            <a:off x="429610" y="2950190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Данный код является валидным и для JSX, и для HTML: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541DB83-5F96-4A53-B099-6B0C3D6FC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21" y="3319521"/>
            <a:ext cx="4493175" cy="311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6601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134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EED3C-F2FB-48D4-AB97-3EE813FCFF22}"/>
              </a:ext>
            </a:extLst>
          </p:cNvPr>
          <p:cNvSpPr txBox="1"/>
          <p:nvPr/>
        </p:nvSpPr>
        <p:spPr>
          <a:xfrm>
            <a:off x="508438" y="536056"/>
            <a:ext cx="10732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Также </a:t>
            </a:r>
            <a:r>
              <a:rPr lang="ru-RU" dirty="0" err="1"/>
              <a:t>React</a:t>
            </a:r>
            <a:r>
              <a:rPr lang="ru-RU" dirty="0"/>
              <a:t>-компонент может возвращать массив элементов: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01542C-77F1-4F8C-B1A7-154EF9DBC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39" y="1076994"/>
            <a:ext cx="10602276" cy="352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6769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135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00677-D9BE-48A5-8DA4-9F2CAC1242BF}"/>
              </a:ext>
            </a:extLst>
          </p:cNvPr>
          <p:cNvSpPr txBox="1"/>
          <p:nvPr/>
        </p:nvSpPr>
        <p:spPr>
          <a:xfrm>
            <a:off x="508438" y="453837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JavaScript-</a:t>
            </a:r>
            <a:r>
              <a:rPr lang="ru-RU" b="1" dirty="0"/>
              <a:t>выражения как дочерние компоненты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34F8A-1C62-460A-B2AB-8BE563B2713E}"/>
              </a:ext>
            </a:extLst>
          </p:cNvPr>
          <p:cNvSpPr txBox="1"/>
          <p:nvPr/>
        </p:nvSpPr>
        <p:spPr>
          <a:xfrm>
            <a:off x="508438" y="1005630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Эти выражения эквивалентны: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99C443-FB98-413F-9E50-ABE701A3C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37" y="1557423"/>
            <a:ext cx="5822633" cy="128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50066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136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3BDBB2-31E5-4E24-9F07-684DF532D7F8}"/>
              </a:ext>
            </a:extLst>
          </p:cNvPr>
          <p:cNvSpPr txBox="1"/>
          <p:nvPr/>
        </p:nvSpPr>
        <p:spPr>
          <a:xfrm>
            <a:off x="429610" y="469603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Этот код  рендерит </a:t>
            </a:r>
            <a:r>
              <a:rPr lang="en-US" dirty="0"/>
              <a:t>HTML-</a:t>
            </a:r>
            <a:r>
              <a:rPr lang="ru-RU" dirty="0"/>
              <a:t>список: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EACD91-E9E3-414C-AF6B-2D0CA5735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10" y="984953"/>
            <a:ext cx="11379898" cy="525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4394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137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F23FD-85C2-4714-B57B-BF5132FF3E2D}"/>
              </a:ext>
            </a:extLst>
          </p:cNvPr>
          <p:cNvSpPr txBox="1"/>
          <p:nvPr/>
        </p:nvSpPr>
        <p:spPr>
          <a:xfrm>
            <a:off x="413843" y="315339"/>
            <a:ext cx="11252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JavaScript</a:t>
            </a:r>
            <a:r>
              <a:rPr lang="ru-RU" dirty="0"/>
              <a:t>-выражения могут быть использованы вместе с другими типами дочерних компонентов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51F5AA5-BA40-49D9-B458-5D614312E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43" y="851441"/>
            <a:ext cx="7027481" cy="136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57976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138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D7E370-7366-4A96-AE3A-EAE397228194}"/>
              </a:ext>
            </a:extLst>
          </p:cNvPr>
          <p:cNvSpPr txBox="1"/>
          <p:nvPr/>
        </p:nvSpPr>
        <p:spPr>
          <a:xfrm>
            <a:off x="524203" y="296182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Функции как дочерние компоненты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845B4B-4FBB-45E7-AC7B-A46D055B2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03" y="665514"/>
            <a:ext cx="9881038" cy="606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5078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139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22143-E8B1-4F13-A13B-E6BAE476C901}"/>
              </a:ext>
            </a:extLst>
          </p:cNvPr>
          <p:cNvSpPr txBox="1"/>
          <p:nvPr/>
        </p:nvSpPr>
        <p:spPr>
          <a:xfrm>
            <a:off x="571500" y="390776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Логические значения, </a:t>
            </a:r>
            <a:r>
              <a:rPr lang="ru-RU" dirty="0" err="1"/>
              <a:t>null</a:t>
            </a:r>
            <a:r>
              <a:rPr lang="ru-RU" dirty="0"/>
              <a:t> и </a:t>
            </a:r>
            <a:r>
              <a:rPr lang="ru-RU" dirty="0" err="1"/>
              <a:t>undefined</a:t>
            </a:r>
            <a:r>
              <a:rPr lang="ru-RU" dirty="0"/>
              <a:t> игнорируются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7730FF-9042-40A7-8E13-DB4972417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7" y="876270"/>
            <a:ext cx="3525385" cy="453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09167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140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BF2494-6012-41A8-A2CC-D988360DAB49}"/>
              </a:ext>
            </a:extLst>
          </p:cNvPr>
          <p:cNvSpPr txBox="1"/>
          <p:nvPr/>
        </p:nvSpPr>
        <p:spPr>
          <a:xfrm>
            <a:off x="429610" y="390775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JSX </a:t>
            </a:r>
            <a:r>
              <a:rPr lang="ru-RU" dirty="0"/>
              <a:t>рендерит &lt;</a:t>
            </a:r>
            <a:r>
              <a:rPr lang="en-US" dirty="0"/>
              <a:t>Header /&gt;, </a:t>
            </a:r>
            <a:r>
              <a:rPr lang="ru-RU" dirty="0"/>
              <a:t>если </a:t>
            </a:r>
            <a:r>
              <a:rPr lang="en-US" dirty="0" err="1"/>
              <a:t>showHeader</a:t>
            </a:r>
            <a:r>
              <a:rPr lang="en-US" dirty="0"/>
              <a:t> </a:t>
            </a:r>
            <a:r>
              <a:rPr lang="ru-RU" dirty="0"/>
              <a:t>равняется </a:t>
            </a:r>
            <a:r>
              <a:rPr lang="en-US" dirty="0"/>
              <a:t>true: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4A0E8E-EDE8-4C3E-8AC7-B7C573364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95" y="950127"/>
            <a:ext cx="4826908" cy="18246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6D2689-8D30-424E-9FBF-1F6B9E04BF30}"/>
              </a:ext>
            </a:extLst>
          </p:cNvPr>
          <p:cNvSpPr txBox="1"/>
          <p:nvPr/>
        </p:nvSpPr>
        <p:spPr>
          <a:xfrm>
            <a:off x="504495" y="3103602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0 будет отображён, если массив </a:t>
            </a:r>
            <a:r>
              <a:rPr lang="ru-RU" dirty="0" err="1"/>
              <a:t>props.messages</a:t>
            </a:r>
            <a:r>
              <a:rPr lang="ru-RU" dirty="0"/>
              <a:t> пуст: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94A0A4D-09D3-4ADF-BEDA-C1487A35F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95" y="3472934"/>
            <a:ext cx="7352208" cy="217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3353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141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37EA9-73E5-41C7-8E84-0A4321163283}"/>
              </a:ext>
            </a:extLst>
          </p:cNvPr>
          <p:cNvSpPr txBox="1"/>
          <p:nvPr/>
        </p:nvSpPr>
        <p:spPr>
          <a:xfrm>
            <a:off x="508436" y="409932"/>
            <a:ext cx="10845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Чтобы исправить это, убедитесь что выражение перед оператором &amp;&amp; всегда является </a:t>
            </a:r>
            <a:r>
              <a:rPr lang="ru-RU" dirty="0" err="1"/>
              <a:t>boolean</a:t>
            </a:r>
            <a:r>
              <a:rPr lang="ru-RU" dirty="0"/>
              <a:t>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7E1831-EA94-4C4E-A55B-44019F7DE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36" y="983940"/>
            <a:ext cx="7756696" cy="22637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341768-8784-4BCA-AB78-3576E5A4DBE7}"/>
              </a:ext>
            </a:extLst>
          </p:cNvPr>
          <p:cNvSpPr txBox="1"/>
          <p:nvPr/>
        </p:nvSpPr>
        <p:spPr>
          <a:xfrm>
            <a:off x="508435" y="3610304"/>
            <a:ext cx="112684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 надо, чтобы такие значения как </a:t>
            </a:r>
            <a:r>
              <a:rPr lang="ru-RU" dirty="0" err="1"/>
              <a:t>false</a:t>
            </a:r>
            <a:r>
              <a:rPr lang="ru-RU" dirty="0"/>
              <a:t>, </a:t>
            </a:r>
            <a:r>
              <a:rPr lang="ru-RU" dirty="0" err="1"/>
              <a:t>true</a:t>
            </a:r>
            <a:r>
              <a:rPr lang="ru-RU" dirty="0"/>
              <a:t>, </a:t>
            </a:r>
            <a:r>
              <a:rPr lang="ru-RU" dirty="0" err="1"/>
              <a:t>null</a:t>
            </a:r>
            <a:r>
              <a:rPr lang="ru-RU" dirty="0"/>
              <a:t> или </a:t>
            </a:r>
            <a:r>
              <a:rPr lang="ru-RU" dirty="0" err="1"/>
              <a:t>undefined</a:t>
            </a:r>
            <a:r>
              <a:rPr lang="ru-RU" dirty="0"/>
              <a:t> </a:t>
            </a:r>
            <a:r>
              <a:rPr lang="ru-RU" dirty="0" err="1"/>
              <a:t>отрисовались</a:t>
            </a:r>
            <a:r>
              <a:rPr lang="ru-RU" dirty="0"/>
              <a:t>, то сначала необходимо преобразовать их в строку: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22134A9-077D-4C2F-AAA0-894ECD77B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35" y="4411017"/>
            <a:ext cx="8000043" cy="146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3697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142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FE9718-6512-4C06-872D-1AF71870EAC0}"/>
              </a:ext>
            </a:extLst>
          </p:cNvPr>
          <p:cNvSpPr txBox="1"/>
          <p:nvPr/>
        </p:nvSpPr>
        <p:spPr>
          <a:xfrm>
            <a:off x="5260428" y="375009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Введение в хуки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549DFF5-3F0B-4AEB-9AF9-858697CDF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81" y="1704407"/>
            <a:ext cx="7943619" cy="47785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386147-BBD0-4E1B-862E-BF3B0E1FAC88}"/>
              </a:ext>
            </a:extLst>
          </p:cNvPr>
          <p:cNvSpPr txBox="1"/>
          <p:nvPr/>
        </p:nvSpPr>
        <p:spPr>
          <a:xfrm>
            <a:off x="666981" y="1039708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Хук состояния </a:t>
            </a:r>
            <a:r>
              <a:rPr lang="en-US" b="0" i="0" dirty="0" err="1">
                <a:solidFill>
                  <a:srgbClr val="1A1A1A"/>
                </a:solidFill>
                <a:effectLst/>
                <a:latin typeface="source-code-pro"/>
              </a:rPr>
              <a:t>useState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9284125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143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69DC4-2254-43AC-AC62-110B0E90DACE}"/>
              </a:ext>
            </a:extLst>
          </p:cNvPr>
          <p:cNvSpPr txBox="1"/>
          <p:nvPr/>
        </p:nvSpPr>
        <p:spPr>
          <a:xfrm>
            <a:off x="634561" y="311947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Объявление нескольких переменных состояния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E4F1C51-10F8-4F5F-A236-92C206FBD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61" y="850707"/>
            <a:ext cx="8708724" cy="329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34178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144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2D67D8-DEB6-4FA0-8EBE-83DC06539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87" y="1427791"/>
            <a:ext cx="8525376" cy="32545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DC1A2F-7CA1-4BFE-8F36-A889FCA0E7C2}"/>
              </a:ext>
            </a:extLst>
          </p:cNvPr>
          <p:cNvSpPr txBox="1"/>
          <p:nvPr/>
        </p:nvSpPr>
        <p:spPr>
          <a:xfrm>
            <a:off x="700387" y="614884"/>
            <a:ext cx="10382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Хук состояния можно использовать в компоненте более одного раза.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625665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145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BE49A-FF3A-4841-9983-147658F306B1}"/>
              </a:ext>
            </a:extLst>
          </p:cNvPr>
          <p:cNvSpPr txBox="1"/>
          <p:nvPr/>
        </p:nvSpPr>
        <p:spPr>
          <a:xfrm>
            <a:off x="634561" y="343479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Хук эффекта </a:t>
            </a:r>
            <a:r>
              <a:rPr lang="en-US" b="0" i="0" dirty="0" err="1">
                <a:solidFill>
                  <a:srgbClr val="1A1A1A"/>
                </a:solidFill>
                <a:effectLst/>
                <a:latin typeface="source-code-pro"/>
              </a:rPr>
              <a:t>useEffect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E928EE-B153-42E6-8985-F723BB992803}"/>
              </a:ext>
            </a:extLst>
          </p:cNvPr>
          <p:cNvSpPr txBox="1"/>
          <p:nvPr/>
        </p:nvSpPr>
        <p:spPr>
          <a:xfrm>
            <a:off x="634561" y="835601"/>
            <a:ext cx="11142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Этот компонент устанавливает заголовок документа после того, как </a:t>
            </a:r>
            <a:r>
              <a:rPr lang="ru-RU" dirty="0" err="1"/>
              <a:t>React</a:t>
            </a:r>
            <a:r>
              <a:rPr lang="ru-RU" dirty="0"/>
              <a:t> обновляет DOM: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00F2FA-EF98-49F1-B05B-EF2B01713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60" y="1327723"/>
            <a:ext cx="7511481" cy="469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8366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146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872F2-E533-4748-A8BB-E74A067EA8A2}"/>
              </a:ext>
            </a:extLst>
          </p:cNvPr>
          <p:cNvSpPr txBox="1"/>
          <p:nvPr/>
        </p:nvSpPr>
        <p:spPr>
          <a:xfrm>
            <a:off x="587265" y="327713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Дочерние </a:t>
            </a:r>
            <a:r>
              <a:rPr lang="en-US" dirty="0"/>
              <a:t>JSX-</a:t>
            </a:r>
            <a:r>
              <a:rPr lang="ru-RU" dirty="0"/>
              <a:t>компоненты</a:t>
            </a:r>
          </a:p>
        </p:txBody>
      </p:sp>
    </p:spTree>
    <p:extLst>
      <p:ext uri="{BB962C8B-B14F-4D97-AF65-F5344CB8AC3E}">
        <p14:creationId xmlns:p14="http://schemas.microsoft.com/office/powerpoint/2010/main" val="227173286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147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A64958-1DB5-4C9A-9D4E-84B1621E1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21" y="136525"/>
            <a:ext cx="11046479" cy="296328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22E70E-C76D-47DE-AF56-E884E9CA0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03" y="3282781"/>
            <a:ext cx="7842825" cy="346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10338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148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9F5E9C-976D-4D43-956B-F646731BE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78" y="255857"/>
            <a:ext cx="11698766" cy="610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58415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149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EAAC3B-3AD2-42AF-83F8-FB7E3762B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47" y="768910"/>
            <a:ext cx="7003712" cy="5952565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5A6A9144-4616-48A0-B50C-522DDBA80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748" y="211774"/>
            <a:ext cx="63618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useContext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60489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150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A84E09-B09D-42C9-9A76-2EF79C8CE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56" y="405115"/>
            <a:ext cx="11245083" cy="446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66701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151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5A3A16-A18A-4EAB-98C8-224012F99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02" y="1088383"/>
            <a:ext cx="9719714" cy="170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2462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152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38E77E-A526-425D-B034-5AC8ED402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447269"/>
            <a:ext cx="10984446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7631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153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A2C134-6341-46E4-A5AB-73CDE4F05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69" y="456896"/>
            <a:ext cx="9023975" cy="518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6545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154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090915-0F47-49AD-9B1F-E67A78EF6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47" y="153954"/>
            <a:ext cx="7081736" cy="646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6413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155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910269-C52E-4D3E-93DE-7CA763E5E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42" y="336010"/>
            <a:ext cx="11267915" cy="498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350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156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0FF5E9-D814-4A92-A9A7-70BBDFE71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233362"/>
            <a:ext cx="8758238" cy="639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8672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157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0BCFD0-BAB2-467C-BF15-0F6068432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242887"/>
            <a:ext cx="9677244" cy="591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2020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158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34B167-6E89-4B13-BCB3-E026B6809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" y="161924"/>
            <a:ext cx="8529638" cy="642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2190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159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1E6F400-5FD9-426E-8DF2-DED53AC74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4" y="557212"/>
            <a:ext cx="9931191" cy="80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17115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160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1582D20-2A36-4C8B-B51D-B24607388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158" y="0"/>
            <a:ext cx="6625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75804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161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362196D-8221-4CD1-83B7-6E0F2A0D9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726" y="247650"/>
            <a:ext cx="7534275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0671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162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C0F745-3C0B-465F-A751-6DB393AE6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271462"/>
            <a:ext cx="11476536" cy="572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54460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163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AFEA08-32CD-4B48-AB3C-89944D860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9" y="690562"/>
            <a:ext cx="11246309" cy="96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1022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164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442423-D89D-4625-8EB6-8C23732EC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9" y="466725"/>
            <a:ext cx="11346873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4871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165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52E22C-808C-4074-905E-04B4E854D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4" y="242887"/>
            <a:ext cx="8582025" cy="623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79365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166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A25E7B-F4BF-4922-BD71-9A6D8EFEC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242887"/>
            <a:ext cx="9623349" cy="611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7287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167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57D3F23-BA0A-443F-B15C-0D1F5257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" y="1023937"/>
            <a:ext cx="10735014" cy="213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6319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168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2E4877-FE70-4F76-8991-71E737B99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1214437"/>
            <a:ext cx="7260288" cy="228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31164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169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D6D68B9-3B80-4F8B-A6FB-301FB0422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49" y="947737"/>
            <a:ext cx="9406957" cy="16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7833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170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9D36D3-EE36-4A82-850B-CD28DAA2D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2" y="1014412"/>
            <a:ext cx="8740504" cy="161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0019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171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282B39-9C4A-4AA4-8E40-D2ECE730F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37" y="52387"/>
            <a:ext cx="6791325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093628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172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9E76A91-268C-40BE-94D1-3FAAF92C8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71450"/>
            <a:ext cx="11488158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7522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173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CC0A07-C7BA-4FB1-9C8C-CD08C1475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14" y="778111"/>
            <a:ext cx="10942111" cy="73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13818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174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02704E-0CF3-459E-93B0-8BFE97B99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87" y="828674"/>
            <a:ext cx="7568168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7597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175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EB4680-149E-48F5-9C8A-54C5F48C5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262" y="38100"/>
            <a:ext cx="7991475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9694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176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A39CB4-BD15-4B88-8D3E-4C87574DD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385762"/>
            <a:ext cx="11431234" cy="365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9716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177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DEBF37-CC3F-4A3F-9236-A18843669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" y="123824"/>
            <a:ext cx="9682031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632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178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3BE44E-C336-4C8C-8C5E-029D46241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" y="357187"/>
            <a:ext cx="8778748" cy="553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0774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179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F854D1-28FA-46A5-9059-8A054D96D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366712"/>
            <a:ext cx="10988916" cy="515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16144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180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C8AB86-6F7F-4C1B-9C04-503D8D2A7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" y="80962"/>
            <a:ext cx="6657975" cy="664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350934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181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5F5BBC-7118-4253-BC1A-E2347945A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17" y="212792"/>
            <a:ext cx="11723450" cy="334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91117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182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09026" y="501134"/>
            <a:ext cx="4091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Соединим все вместе с </a:t>
            </a:r>
            <a:r>
              <a:rPr lang="ru-RU" dirty="0" err="1"/>
              <a:t>Context.Provider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26" y="989511"/>
            <a:ext cx="4328981" cy="397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83915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183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7" y="403130"/>
            <a:ext cx="9773341" cy="403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25417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184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83" y="251220"/>
            <a:ext cx="8227917" cy="639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186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97342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186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58184B-81F4-40F8-9FC4-459A9CDC7FAC}"/>
              </a:ext>
            </a:extLst>
          </p:cNvPr>
          <p:cNvSpPr txBox="1"/>
          <p:nvPr/>
        </p:nvSpPr>
        <p:spPr>
          <a:xfrm>
            <a:off x="655320" y="30301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>
                <a:solidFill>
                  <a:srgbClr val="212121"/>
                </a:solidFill>
                <a:effectLst/>
                <a:latin typeface="Manrope"/>
              </a:rPr>
              <a:t>Маршрутизация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53F9ACB-0D23-4A69-ADF1-B56F35167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1153477"/>
            <a:ext cx="6150160" cy="79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367042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187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B63C53-07E7-47EA-BD63-E89D22BE6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" y="200342"/>
            <a:ext cx="9089854" cy="634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02744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188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47F5EB-BA05-4F64-BF92-D0EDF3404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65" y="159384"/>
            <a:ext cx="10206250" cy="634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68030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189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1A59BC-F840-41A2-A0E1-F2493ADF8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" y="127000"/>
            <a:ext cx="11568695" cy="637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348206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190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0D84CB-BA6A-44BA-B441-1FD857861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5" y="0"/>
            <a:ext cx="11597482" cy="66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85094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191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2DB950E-10FD-4017-AA7D-E36101752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69" y="141922"/>
            <a:ext cx="9902335" cy="642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66626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192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71A050-8873-4905-87B7-184A5E53E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17" y="190817"/>
            <a:ext cx="6616373" cy="641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829092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193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E1761D-DE2B-4B83-BC90-A680677FE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97" y="67576"/>
            <a:ext cx="6888163" cy="672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12030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194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F7772D-7BBC-4008-A4F6-9D845E555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42" y="180022"/>
            <a:ext cx="11185981" cy="627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018747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195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500CD6-101C-4B5B-8B5E-ECCFB8028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2" y="227012"/>
            <a:ext cx="5781358" cy="643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43135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196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C4BA73-6E74-4FF3-AC0D-24D5EA066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" y="174307"/>
            <a:ext cx="9144000" cy="653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24209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197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49FD49-EA9F-4D51-B98A-8317771C8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57" y="120967"/>
            <a:ext cx="11045247" cy="639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1239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198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C22FB5-5AA1-4BAF-8121-221BE0FDE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" y="160972"/>
            <a:ext cx="11268410" cy="643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152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199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531214-634B-42D6-ADAC-F999C75DB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5100"/>
            <a:ext cx="6108700" cy="657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877249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200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FAB1DC-B240-49B4-A7FC-40C9B9C7F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35" y="160654"/>
            <a:ext cx="9954358" cy="44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495075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201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863CEF-668E-41FE-8249-CF428855D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14" y="123825"/>
            <a:ext cx="8477885" cy="664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27500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202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9690EB-5537-4EF5-B23D-146379B61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04" y="109220"/>
            <a:ext cx="9815195" cy="668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04022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12728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204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4253F6-A488-41A1-BA87-066BF9984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74" y="377045"/>
            <a:ext cx="4208572" cy="12272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82D2B5-8652-47D1-ABCC-BD6A4DA7FD26}"/>
              </a:ext>
            </a:extLst>
          </p:cNvPr>
          <p:cNvSpPr txBox="1"/>
          <p:nvPr/>
        </p:nvSpPr>
        <p:spPr>
          <a:xfrm>
            <a:off x="438074" y="1825836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0" i="0" dirty="0">
                <a:solidFill>
                  <a:srgbClr val="181818"/>
                </a:solidFill>
                <a:effectLst/>
                <a:latin typeface="HeliosExtC"/>
              </a:rPr>
              <a:t>Основные концепции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4FBEA7-7475-43EB-8ED6-8C547074D0BD}"/>
              </a:ext>
            </a:extLst>
          </p:cNvPr>
          <p:cNvSpPr txBox="1"/>
          <p:nvPr/>
        </p:nvSpPr>
        <p:spPr>
          <a:xfrm>
            <a:off x="604158" y="2270341"/>
            <a:ext cx="89037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81818"/>
                </a:solidFill>
                <a:latin typeface="HeliosExtC-bold"/>
              </a:rPr>
              <a:t>е</a:t>
            </a:r>
            <a:r>
              <a:rPr lang="ru-RU" sz="2000" i="0" dirty="0">
                <a:solidFill>
                  <a:srgbClr val="181818"/>
                </a:solidFill>
                <a:effectLst/>
                <a:latin typeface="HeliosExtC-bold"/>
              </a:rPr>
              <a:t>диный источник состояния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81818"/>
                </a:solidFill>
                <a:latin typeface="HeliosExtC-bold"/>
              </a:rPr>
              <a:t>д</a:t>
            </a:r>
            <a:r>
              <a:rPr lang="ru-RU" sz="2000" i="0" dirty="0">
                <a:solidFill>
                  <a:srgbClr val="181818"/>
                </a:solidFill>
                <a:effectLst/>
                <a:latin typeface="HeliosExtC-bold"/>
              </a:rPr>
              <a:t>оступ к состоянию — только для чтения</a:t>
            </a:r>
            <a:endParaRPr lang="ru-RU" sz="2000" dirty="0">
              <a:solidFill>
                <a:srgbClr val="181818"/>
              </a:solidFill>
              <a:latin typeface="HeliosExtC-bold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81818"/>
                </a:solidFill>
                <a:latin typeface="HeliosExtC-bold"/>
              </a:rPr>
              <a:t>и</a:t>
            </a:r>
            <a:r>
              <a:rPr lang="ru-RU" sz="2000" i="0" dirty="0">
                <a:solidFill>
                  <a:srgbClr val="181818"/>
                </a:solidFill>
                <a:effectLst/>
                <a:latin typeface="HeliosExtC-bold"/>
              </a:rPr>
              <a:t>зменения — только через редукторы (</a:t>
            </a:r>
            <a:r>
              <a:rPr lang="ru-RU" sz="2000" i="0" dirty="0" err="1">
                <a:solidFill>
                  <a:srgbClr val="181818"/>
                </a:solidFill>
                <a:effectLst/>
                <a:latin typeface="HeliosExtC"/>
              </a:rPr>
              <a:t>редьюсеры</a:t>
            </a:r>
            <a:r>
              <a:rPr lang="ru-RU" sz="2000" i="0" dirty="0">
                <a:solidFill>
                  <a:srgbClr val="181818"/>
                </a:solidFill>
                <a:effectLst/>
                <a:latin typeface="HeliosExtC-bold"/>
              </a:rPr>
              <a:t>)</a:t>
            </a: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997BC-C514-44B8-BE92-EFF0ABEE4EB8}"/>
              </a:ext>
            </a:extLst>
          </p:cNvPr>
          <p:cNvSpPr txBox="1"/>
          <p:nvPr/>
        </p:nvSpPr>
        <p:spPr>
          <a:xfrm>
            <a:off x="604158" y="4995010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0" dirty="0" err="1">
                <a:solidFill>
                  <a:srgbClr val="181818"/>
                </a:solidFill>
                <a:effectLst/>
                <a:latin typeface="HeliosExtC-bold"/>
              </a:rPr>
              <a:t>npm</a:t>
            </a:r>
            <a:r>
              <a:rPr lang="en-US" sz="2400" i="0" dirty="0">
                <a:solidFill>
                  <a:srgbClr val="181818"/>
                </a:solidFill>
                <a:effectLst/>
                <a:latin typeface="HeliosExtC-bold"/>
              </a:rPr>
              <a:t> install redux</a:t>
            </a:r>
            <a:endParaRPr lang="ru-R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4A6AC-76FF-4F49-8104-8FAF5DD02363}"/>
              </a:ext>
            </a:extLst>
          </p:cNvPr>
          <p:cNvSpPr txBox="1"/>
          <p:nvPr/>
        </p:nvSpPr>
        <p:spPr>
          <a:xfrm>
            <a:off x="604158" y="556038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0" dirty="0">
                <a:solidFill>
                  <a:srgbClr val="181818"/>
                </a:solidFill>
                <a:effectLst/>
                <a:latin typeface="HeliosExtC-bold"/>
              </a:rPr>
              <a:t>yarn add redux</a:t>
            </a:r>
            <a:endParaRPr lang="ru-RU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2C6A1C-21DE-4EDB-989A-6F65B227A967}"/>
              </a:ext>
            </a:extLst>
          </p:cNvPr>
          <p:cNvSpPr txBox="1"/>
          <p:nvPr/>
        </p:nvSpPr>
        <p:spPr>
          <a:xfrm>
            <a:off x="604158" y="419879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181818"/>
                </a:solidFill>
                <a:latin typeface="HeliosExtC-bold"/>
              </a:rPr>
              <a:t>Установка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37378720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205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526B4B-7CD5-4B08-A2B1-9C2ECBF93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35" y="391207"/>
            <a:ext cx="10623503" cy="580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27899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206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A92316-58ED-4718-AEE3-949B3D26F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17" y="604520"/>
            <a:ext cx="7025291" cy="27482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214C2EB-7045-491C-9401-19353FA85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" y="4360862"/>
            <a:ext cx="11252762" cy="69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81832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207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EDC230-0EF5-4F2C-9140-FF143321B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80" y="469264"/>
            <a:ext cx="4585864" cy="198945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02F11C6-7FD4-4092-83DD-7335CAB46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" y="3293428"/>
            <a:ext cx="5914551" cy="163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658753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208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E9059D-67CB-4F3F-AFEB-051DE0A04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97" y="344487"/>
            <a:ext cx="4335463" cy="217465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1DB7B60-54D7-4015-B92B-CF30D6FB2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97" y="2699167"/>
            <a:ext cx="5869623" cy="245889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B1FC7D1-1FE9-4A4E-9C8E-F3B86F07C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97" y="5262562"/>
            <a:ext cx="7078663" cy="119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46250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209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F206CC1-ED7F-4775-AEB8-15E513D50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92" y="303847"/>
            <a:ext cx="10967289" cy="160623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981430-1B59-49AA-95D1-7186C7077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2" y="2503170"/>
            <a:ext cx="6275388" cy="121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30729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210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82E61D-9D05-46A0-B427-98C021E36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0" y="181292"/>
            <a:ext cx="7119620" cy="606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91973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211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2D54DE-F2FD-4848-80D0-3DCC84A32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77" y="238125"/>
            <a:ext cx="10582112" cy="589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775371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212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864035-8A57-4BCE-8580-FA134BB7B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75" y="113982"/>
            <a:ext cx="9581178" cy="573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972224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213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9879C7-C567-4D17-8CA2-F69DB99B0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230188"/>
            <a:ext cx="6892608" cy="80999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ED5E6D8-4BA0-48FA-88E3-D0FC5AE36D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67"/>
          <a:stretch/>
        </p:blipFill>
        <p:spPr>
          <a:xfrm>
            <a:off x="442912" y="1359535"/>
            <a:ext cx="10448608" cy="519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734938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214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5D5D94-6CA2-496F-92B2-E116432E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7" y="299084"/>
            <a:ext cx="11071401" cy="173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86431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215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D6C626-CEC0-4B82-B894-27672DE2E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97" y="357187"/>
            <a:ext cx="7978559" cy="607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040170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216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B048F0-1971-433F-B7B2-386116BEB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4" y="408622"/>
            <a:ext cx="5923801" cy="290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32340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217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FBF3F4-2843-4360-A77D-9A90215E5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77800"/>
            <a:ext cx="7970806" cy="634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114779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218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BB0C25-523C-451C-88E5-4ABB39430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04" y="220027"/>
            <a:ext cx="9055663" cy="469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47011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219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FAED64-6A52-4AA9-9F90-02DC0172B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49" y="195262"/>
            <a:ext cx="9428445" cy="587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9069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220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1354F4-134C-4BE8-978F-D6E6A50B6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77" y="222884"/>
            <a:ext cx="11173601" cy="600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56582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221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5CDE62-24C8-47B8-B45D-E0112348B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" y="111125"/>
            <a:ext cx="7577138" cy="670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392514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222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7CA27A-6F0A-4EF1-AC22-941006D02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15" y="182244"/>
            <a:ext cx="8668432" cy="636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56579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223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621825-E48C-41C8-AEF1-398D48CA7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17" y="369252"/>
            <a:ext cx="7653121" cy="70770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397F56-52DE-414B-8FBD-063E45866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400810"/>
            <a:ext cx="10219204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7105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224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AB7F64-674E-46EC-B811-9B6533962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74" y="113982"/>
            <a:ext cx="7411085" cy="652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33862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225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528FEF-10B4-4AFD-B3AA-9A1ED6753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27" y="200977"/>
            <a:ext cx="9160758" cy="634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546760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226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EE3E1B-89B2-4F5F-B5B9-43363994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82" y="314324"/>
            <a:ext cx="7655804" cy="329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14900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227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761B4B-D828-45EC-B980-4253B7A0D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04" y="274637"/>
            <a:ext cx="10315475" cy="383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12034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228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48661A-5774-4CFF-9AF1-2BD80A322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37" y="250190"/>
            <a:ext cx="6880658" cy="21780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FD5D4F-E9C4-4CF2-958E-B366F5EA4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37" y="2743836"/>
            <a:ext cx="9090442" cy="304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64480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229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001DD5-8ED2-4F97-9AB3-4818E11F5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82" y="126364"/>
            <a:ext cx="8121835" cy="615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07783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230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41BD72-897B-4CD8-8F91-D84C06B2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" y="113665"/>
            <a:ext cx="7495540" cy="654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89975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231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F71111-5EE5-4AE8-B044-29681E3DF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0" y="381952"/>
            <a:ext cx="7293560" cy="233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91954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232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FE3C40-05EC-4640-AB41-89E4B0FD2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22" y="411797"/>
            <a:ext cx="6947628" cy="135604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602CEB-FFE0-41CB-A49C-49E706BDE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2" y="2156142"/>
            <a:ext cx="6507029" cy="187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343918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233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5C773C-60F5-439F-8E75-A45E1612B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09" y="118427"/>
            <a:ext cx="11057891" cy="534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573053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234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C90B4A-ED56-4E62-8017-803FBA9A1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71780"/>
            <a:ext cx="11185954" cy="486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88311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235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29F723-678B-4F56-B37D-C1C38D842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" y="83819"/>
            <a:ext cx="8690293" cy="658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85765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236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35313D-439F-4CA5-A619-F645BC0C0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75" y="317182"/>
            <a:ext cx="9189284" cy="255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118389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237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5E59DE-4BC5-4DF4-9D64-FA626D16B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62" y="338454"/>
            <a:ext cx="11053720" cy="150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3177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238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179D17-891F-4C80-B22C-420874E4F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226060"/>
            <a:ext cx="10089366" cy="625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77589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239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534EC12-FD4C-4B13-B11B-FDB35DE83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10" y="274320"/>
            <a:ext cx="10819598" cy="583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92835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240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C60F69-BDCB-470A-B6F2-04A7BCFDA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370204"/>
            <a:ext cx="9655528" cy="25558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E8071A-A34F-487A-9304-00CCF9B1C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3084830"/>
            <a:ext cx="10348874" cy="226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264102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241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A9C8E2-141F-4FD7-AFE0-E68D7CCC1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" y="609917"/>
            <a:ext cx="8266358" cy="80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062203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242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F066A8-371B-4D1C-B370-D97075DAB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2" y="533400"/>
            <a:ext cx="10975524" cy="471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70282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705609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D7E52F-4108-47CB-A42F-3DD916A43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62" y="361467"/>
            <a:ext cx="4006830" cy="632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07442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50EDCA-FB26-453B-963A-938876146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48" y="247316"/>
            <a:ext cx="10398359" cy="6465004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4076A-62FC-4E0A-8084-D5A81782FA50}"/>
              </a:ext>
            </a:extLst>
          </p:cNvPr>
          <p:cNvSpPr/>
          <p:nvPr/>
        </p:nvSpPr>
        <p:spPr>
          <a:xfrm>
            <a:off x="5019869" y="4581331"/>
            <a:ext cx="5038531" cy="5411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1BA8A96-FBB5-4C45-A905-B2571EE03F2E}"/>
              </a:ext>
            </a:extLst>
          </p:cNvPr>
          <p:cNvSpPr/>
          <p:nvPr/>
        </p:nvSpPr>
        <p:spPr>
          <a:xfrm>
            <a:off x="8191195" y="325571"/>
            <a:ext cx="2473695" cy="6728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37C802A-1D19-4004-BF13-B6C53F802D64}"/>
              </a:ext>
            </a:extLst>
          </p:cNvPr>
          <p:cNvSpPr/>
          <p:nvPr/>
        </p:nvSpPr>
        <p:spPr>
          <a:xfrm>
            <a:off x="775521" y="3193179"/>
            <a:ext cx="3454357" cy="8780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935831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7DC4ED-97EC-4F04-A863-4DEAF04D7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01" y="325448"/>
            <a:ext cx="11336392" cy="459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726088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FE8DEF-3379-457E-8EB8-83F9234DB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54" y="506096"/>
            <a:ext cx="9052147" cy="485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38229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31D397-828D-4D68-A685-AEC45A7A2F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685"/>
          <a:stretch/>
        </p:blipFill>
        <p:spPr>
          <a:xfrm>
            <a:off x="182456" y="99146"/>
            <a:ext cx="11447046" cy="577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03685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A35E22B-ACD3-4EE0-AB87-2E0FB552B9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5488"/>
          <a:stretch/>
        </p:blipFill>
        <p:spPr>
          <a:xfrm>
            <a:off x="471705" y="541174"/>
            <a:ext cx="11401820" cy="329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549877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C73B94-5CF5-40ED-801F-B98273092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97" y="305117"/>
            <a:ext cx="11346730" cy="245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03780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DA6B3E-B2CD-422E-9354-BFEA5F35F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32" y="374795"/>
            <a:ext cx="11119234" cy="568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55370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62B19F-50D3-4D06-A24E-BC4BD3E6A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48" y="232104"/>
            <a:ext cx="11748052" cy="609405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E0A3572-DA68-4BD0-8BBC-36A334FC478D}"/>
              </a:ext>
            </a:extLst>
          </p:cNvPr>
          <p:cNvSpPr/>
          <p:nvPr/>
        </p:nvSpPr>
        <p:spPr>
          <a:xfrm>
            <a:off x="1082354" y="5010535"/>
            <a:ext cx="6176865" cy="12316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376534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484116-6BAB-4B34-95FE-0936028813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692"/>
          <a:stretch/>
        </p:blipFill>
        <p:spPr>
          <a:xfrm>
            <a:off x="297306" y="188159"/>
            <a:ext cx="11335652" cy="628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039187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8B3B86-6F60-47A2-BDCF-6C63600116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171" r="16193"/>
          <a:stretch/>
        </p:blipFill>
        <p:spPr>
          <a:xfrm>
            <a:off x="362619" y="391884"/>
            <a:ext cx="11233343" cy="478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40595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183E99-AB7B-4258-A244-A0B216862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06" y="185785"/>
            <a:ext cx="11893821" cy="434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475110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763773-FE3D-4299-8730-F75D55057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34" y="290524"/>
            <a:ext cx="10048890" cy="598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086247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9AB9AE-DEFE-4351-BD15-6BC0603C60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27"/>
          <a:stretch/>
        </p:blipFill>
        <p:spPr>
          <a:xfrm>
            <a:off x="205373" y="322107"/>
            <a:ext cx="11690199" cy="130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29659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8975945-5F11-44EE-87D6-804C1F5A2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57" y="260391"/>
            <a:ext cx="10055084" cy="640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65957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25B58C-0752-46CC-8B2F-CBADEFA20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27" y="336246"/>
            <a:ext cx="9437177" cy="583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273461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5D0440-328B-43D8-8278-B8522E563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05" y="196249"/>
            <a:ext cx="8104461" cy="643589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A296347-4ECB-4219-B623-C072146E61AA}"/>
              </a:ext>
            </a:extLst>
          </p:cNvPr>
          <p:cNvSpPr/>
          <p:nvPr/>
        </p:nvSpPr>
        <p:spPr>
          <a:xfrm>
            <a:off x="1026367" y="2565918"/>
            <a:ext cx="5299788" cy="7557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B86EFF1-0ECD-4203-997B-659E9835CBD1}"/>
              </a:ext>
            </a:extLst>
          </p:cNvPr>
          <p:cNvSpPr/>
          <p:nvPr/>
        </p:nvSpPr>
        <p:spPr>
          <a:xfrm>
            <a:off x="1626640" y="5097621"/>
            <a:ext cx="3495866" cy="11072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509023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412CD3-CFEA-48E4-814C-C2954D633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58" y="499962"/>
            <a:ext cx="9694977" cy="149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91956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6F0478-A47D-487D-8849-B7FBF92DC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90" y="340569"/>
            <a:ext cx="10636576" cy="603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14304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FE3CA5-AC3F-4199-BB45-2A97FD6E1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74" y="274502"/>
            <a:ext cx="8995756" cy="570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29602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FA391F-C5C8-4955-83AE-A1665A982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73" y="418999"/>
            <a:ext cx="8520320" cy="195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20010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7171019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3890886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861229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121529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631569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651958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669856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029034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790950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B33F-535A-4D66-94AD-27902166E563}" type="slidenum">
              <a:rPr lang="ru-RU" smtClean="0"/>
              <a:t>274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8981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1924</TotalTime>
  <Words>1800</Words>
  <Application>Microsoft Office PowerPoint</Application>
  <PresentationFormat>Широкоэкранный</PresentationFormat>
  <Paragraphs>442</Paragraphs>
  <Slides>274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274</vt:i4>
      </vt:variant>
    </vt:vector>
  </HeadingPairs>
  <TitlesOfParts>
    <vt:vector size="290" baseType="lpstr">
      <vt:lpstr>-apple-system</vt:lpstr>
      <vt:lpstr>Arial</vt:lpstr>
      <vt:lpstr>Arial Unicode MS</vt:lpstr>
      <vt:lpstr>Calibri</vt:lpstr>
      <vt:lpstr>Calibri Light</vt:lpstr>
      <vt:lpstr>Consolas</vt:lpstr>
      <vt:lpstr>HeliosExtC</vt:lpstr>
      <vt:lpstr>HeliosExtC-bold</vt:lpstr>
      <vt:lpstr>Manrope</vt:lpstr>
      <vt:lpstr>Monaco</vt:lpstr>
      <vt:lpstr>Segoe UI</vt:lpstr>
      <vt:lpstr>SFMono-Regular</vt:lpstr>
      <vt:lpstr>Source Sans Pro</vt:lpstr>
      <vt:lpstr>source-code-pro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Marina</dc:creator>
  <cp:lastModifiedBy>Marina</cp:lastModifiedBy>
  <cp:revision>57</cp:revision>
  <dcterms:created xsi:type="dcterms:W3CDTF">2023-03-10T06:02:26Z</dcterms:created>
  <dcterms:modified xsi:type="dcterms:W3CDTF">2025-05-08T13:08:17Z</dcterms:modified>
</cp:coreProperties>
</file>